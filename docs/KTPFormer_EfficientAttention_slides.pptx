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6858000" cx="12192000"/>
  <p:notesSz cx="6858000" cy="9144000"/>
  <p:embeddedFontLs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3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629182-999F-4BD8-A60B-3A9191D352FB}">
  <a:tblStyle styleId="{2A629182-999F-4BD8-A60B-3A9191D352F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6C6E112-B16F-45DF-A043-BDB8F1D3007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37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6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OpenSans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b43b98af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31b43b98af3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3c4e64601_0_10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3c4e64601_0_1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13c4e64601_0_108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3c4e64601_0_10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3c4e64601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기계 번역 발전 과정은 크게 Attention 매커니즘이 나오기 전과 후 나뉨.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Attention 기법을 사용하기 이전에는 고정된 크기의 context vector를 사용했다면,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이후에는 입력 시퀀스 전체에서 정보를 추출하는 방향으로 발전함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13c4e64601_0_10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3c4e64601_0_1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13c4e64601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그러면 Attention 과정의 이해를 위해 RNN을 간단하게 살펴봄.</a:t>
            </a:r>
            <a:r>
              <a:rPr lang="en-US" sz="1500"/>
              <a:t>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RNN은 현재 입력 뿐만 아니라 그 정보를 다음 단계로 전달하여 시간적 의존성을 학습함.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모델이 문맥을 학습할수 있도록 전체 문장의 앞의 단어들을 전부 고려하여 학습하도록 데이터를 구성한다면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아래와 같이 10개의 샘플로 구성이됨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13c4e64601_0_11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13c4e64601_0_1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13c4e64601_0_1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이후 문장을 예측</a:t>
            </a:r>
            <a:endParaRPr/>
          </a:p>
        </p:txBody>
      </p:sp>
      <p:sp>
        <p:nvSpPr>
          <p:cNvPr id="159" name="Google Shape;159;g313c4e64601_0_11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3c4e64601_0_1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13c4e64601_0_1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13c4e64601_0_11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13c4e64601_0_10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13c4e64601_0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따라서 이러한 RNN을 seq2seq 구조로 사용하면 문제가 발생.</a:t>
            </a:r>
            <a:endParaRPr/>
          </a:p>
        </p:txBody>
      </p:sp>
      <p:sp>
        <p:nvSpPr>
          <p:cNvPr id="176" name="Google Shape;176;g313c4e64601_0_109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3c4e64601_0_1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13c4e64601_0_1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13c4e64601_0_11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13c4e64601_0_11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13c4e64601_0_1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인코더의 모든 출력을 디코더 모델 예측에 반영</a:t>
            </a:r>
            <a:endParaRPr/>
          </a:p>
        </p:txBody>
      </p:sp>
      <p:sp>
        <p:nvSpPr>
          <p:cNvPr id="195" name="Google Shape;195;g313c4e64601_0_11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91b89bcac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191b89bca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디코더가 출력을 만들때 마다 이전 디코더가 출력을 만들기 위해 사용했던 hidden s 를 인코더의 모든 출력 값과 비교해서 에너지 값을 구하 겠다.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191b89bcac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191b89bcac_1_2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191b89bcac_1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임베딩 벡터의 크기는 사용자가 정의함. 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아래 예시는(d_model = 4)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Query: 찾고자하는 정보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Key: 각 데이터의 특징을 나타내는 정보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Value: 해당 데이터의 실제 정보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191b89bcac_1_2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91b89bcac_1_2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91b89bcac_1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기울기를 가지고 연쇄법칙에 따라 순전파와 역전파를 통해 학습을 진행하므로 </a:t>
            </a:r>
            <a:r>
              <a:rPr lang="en-US"/>
              <a:t>스케일링</a:t>
            </a:r>
            <a:endParaRPr/>
          </a:p>
        </p:txBody>
      </p:sp>
      <p:sp>
        <p:nvSpPr>
          <p:cNvPr id="220" name="Google Shape;220;g3191b89bcac_1_2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91b89bcac_1_2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191b89bcac_1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191b89bcac_1_2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191b89bcac_1_2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191b89bcac_1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191b89bcac_1_2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191b89bcac_1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191b89bcac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191b89bcac_1_10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191b89bcac_1_2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191b89bcac_1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191b89bcac_1_2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1778a7cdee_1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1778a7cdee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모델 훈련시 메모리 사용량</a:t>
            </a:r>
            <a:endParaRPr/>
          </a:p>
        </p:txBody>
      </p:sp>
      <p:sp>
        <p:nvSpPr>
          <p:cNvPr id="267" name="Google Shape;267;g31778a7cdee_1_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1b43b98af3_1_2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1b43b98af3_1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1b43b98af3_1_2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1b43b98af3_1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1b43b98af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1b43b98af3_1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1b235cf584_0_4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1b235cf584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1b235cf584_0_48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1b43b98af3_1_2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1b43b98af3_1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8*2 *512 ( B N dim) 이라면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헤드가 8개일 경우 8 * 2 * 64 가 input으로 들어감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8 *2 *64 -&gt;   -&gt; 8 * 2 * 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원래 계산은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공간적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(b f) n cw = (8*27) 15 64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Q * K -&gt; (15 64) * (64 15)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시간적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(b n) f cw </a:t>
            </a:r>
            <a:br>
              <a:rPr lang="en-US"/>
            </a:br>
            <a:r>
              <a:rPr lang="en-US"/>
              <a:t>Q *k = (27 64) * ( 64 15)</a:t>
            </a:r>
            <a:endParaRPr/>
          </a:p>
        </p:txBody>
      </p:sp>
      <p:sp>
        <p:nvSpPr>
          <p:cNvPr id="308" name="Google Shape;308;g31b43b98af3_1_2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1b235cf584_0_2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1b235cf584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모델 훈련시 메모리 사용량</a:t>
            </a:r>
            <a:endParaRPr/>
          </a:p>
        </p:txBody>
      </p:sp>
      <p:sp>
        <p:nvSpPr>
          <p:cNvPr id="364" name="Google Shape;364;g31b235cf584_0_2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1065abc24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21065abc2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21065abc24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214a3ab70a_0_1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214a3ab70a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3214a3ab70a_0_1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1b43b98af3_1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1b43b98af3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쿼리와 키에 Linear, Relu 적용,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키와 쿼리의 차원을 줄이는 대신, 특징을 더 잘 학습하기 위해 원래의 차원을 유지하면서도 비선형 변환을 통해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복잡한 특징을 학습할 수 있도록 함.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ReLu를 통해 입력 데이터에서 중요한 특징만 남기고 불필요한 정보는 억제,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이후 다시 Linear_NM을 통해 강조된 특징을 선형 변환을 통해 다시 재조정,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이는 강조된 특징들 사이의 새로운 관계를 학습할 수 있는 기회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31b43b98af3_1_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1b235cf584_0_2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31b235cf584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g31b235cf584_0_2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1b235cf584_0_3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1b235cf584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g31b235cf584_0_3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1b235cf584_0_3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1b235cf584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g31b235cf584_0_3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19a99da4c3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19a99da4c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실제 3D 좌표와 모델이 예측한 3D 좌표의 유클리디안 거리의 평균</a:t>
            </a:r>
            <a:endParaRPr/>
          </a:p>
        </p:txBody>
      </p:sp>
      <p:sp>
        <p:nvSpPr>
          <p:cNvPr id="900" name="Google Shape;900;g319a99da4c3_0_10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21065abc2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321065abc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g321065abc24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214a3ab70a_0_2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214a3ab70a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g3214a3ab70a_0_2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191b89bcac_1_2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3191b89bcac_1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g3191b89bcac_1_2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191b89bcac_1_2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3191b89bcac_1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g3191b89bcac_1_2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6489700" y="1346200"/>
            <a:ext cx="5702300" cy="5511800"/>
          </a:xfrm>
          <a:prstGeom prst="triangle">
            <a:avLst>
              <a:gd fmla="val 100000" name="adj"/>
            </a:avLst>
          </a:prstGeom>
          <a:solidFill>
            <a:srgbClr val="0D326F">
              <a:alpha val="78039"/>
            </a:srgbClr>
          </a:solidFill>
          <a:ln cap="flat" cmpd="sng" w="12700">
            <a:solidFill>
              <a:srgbClr val="405D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8;p2"/>
          <p:cNvSpPr/>
          <p:nvPr/>
        </p:nvSpPr>
        <p:spPr>
          <a:xfrm rot="-5400000">
            <a:off x="7775882" y="-31750"/>
            <a:ext cx="4394200" cy="4457700"/>
          </a:xfrm>
          <a:prstGeom prst="triangle">
            <a:avLst>
              <a:gd fmla="val 10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2"/>
          <p:cNvSpPr txBox="1"/>
          <p:nvPr>
            <p:ph type="ctrTitle"/>
          </p:nvPr>
        </p:nvSpPr>
        <p:spPr>
          <a:xfrm>
            <a:off x="695325" y="1522415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695325" y="403384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2"/>
          <p:cNvSpPr txBox="1"/>
          <p:nvPr/>
        </p:nvSpPr>
        <p:spPr>
          <a:xfrm>
            <a:off x="11582400" y="6396229"/>
            <a:ext cx="567972" cy="427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41011" y="281395"/>
            <a:ext cx="2325375" cy="53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415681" y="-9850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838200" y="1429789"/>
            <a:ext cx="10515600" cy="4747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2" name="Google Shape;32;p3"/>
          <p:cNvGrpSpPr/>
          <p:nvPr/>
        </p:nvGrpSpPr>
        <p:grpSpPr>
          <a:xfrm>
            <a:off x="155275" y="975588"/>
            <a:ext cx="11878574" cy="0"/>
            <a:chOff x="155275" y="975588"/>
            <a:chExt cx="11878574" cy="0"/>
          </a:xfrm>
        </p:grpSpPr>
        <p:cxnSp>
          <p:nvCxnSpPr>
            <p:cNvPr id="33" name="Google Shape;33;p3"/>
            <p:cNvCxnSpPr/>
            <p:nvPr/>
          </p:nvCxnSpPr>
          <p:spPr>
            <a:xfrm>
              <a:off x="155275" y="975588"/>
              <a:ext cx="9394167" cy="0"/>
            </a:xfrm>
            <a:prstGeom prst="straightConnector1">
              <a:avLst/>
            </a:prstGeom>
            <a:noFill/>
            <a:ln cap="flat" cmpd="sng" w="28575">
              <a:solidFill>
                <a:srgbClr val="999B9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9549442" y="975588"/>
              <a:ext cx="2484407" cy="0"/>
            </a:xfrm>
            <a:prstGeom prst="straightConnector1">
              <a:avLst/>
            </a:prstGeom>
            <a:noFill/>
            <a:ln cap="flat" cmpd="sng" w="28575">
              <a:solidFill>
                <a:srgbClr val="405D8D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id="35" name="Google Shape;3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41011" y="281395"/>
            <a:ext cx="2325375" cy="53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831850" y="2900115"/>
            <a:ext cx="10515600" cy="10577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2" name="Google Shape;42;p4"/>
          <p:cNvGrpSpPr/>
          <p:nvPr/>
        </p:nvGrpSpPr>
        <p:grpSpPr>
          <a:xfrm rot="10800000">
            <a:off x="156713" y="6226199"/>
            <a:ext cx="11878574" cy="0"/>
            <a:chOff x="307675" y="1127988"/>
            <a:chExt cx="11878574" cy="0"/>
          </a:xfrm>
        </p:grpSpPr>
        <p:cxnSp>
          <p:nvCxnSpPr>
            <p:cNvPr id="43" name="Google Shape;43;p4"/>
            <p:cNvCxnSpPr/>
            <p:nvPr/>
          </p:nvCxnSpPr>
          <p:spPr>
            <a:xfrm>
              <a:off x="307675" y="1127988"/>
              <a:ext cx="9394167" cy="0"/>
            </a:xfrm>
            <a:prstGeom prst="straightConnector1">
              <a:avLst/>
            </a:prstGeom>
            <a:noFill/>
            <a:ln cap="flat" cmpd="sng" w="28575">
              <a:solidFill>
                <a:srgbClr val="999B9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" name="Google Shape;44;p4"/>
            <p:cNvCxnSpPr/>
            <p:nvPr/>
          </p:nvCxnSpPr>
          <p:spPr>
            <a:xfrm>
              <a:off x="9701842" y="1127988"/>
              <a:ext cx="2484407" cy="0"/>
            </a:xfrm>
            <a:prstGeom prst="straightConnector1">
              <a:avLst/>
            </a:prstGeom>
            <a:noFill/>
            <a:ln cap="flat" cmpd="sng" w="28575">
              <a:solidFill>
                <a:srgbClr val="405D8D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id="45" name="Google Shape;4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41011" y="281395"/>
            <a:ext cx="2325375" cy="537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Google Shape;46;p4"/>
          <p:cNvGrpSpPr/>
          <p:nvPr/>
        </p:nvGrpSpPr>
        <p:grpSpPr>
          <a:xfrm>
            <a:off x="155275" y="975588"/>
            <a:ext cx="11878574" cy="0"/>
            <a:chOff x="155275" y="975588"/>
            <a:chExt cx="11878574" cy="0"/>
          </a:xfrm>
        </p:grpSpPr>
        <p:cxnSp>
          <p:nvCxnSpPr>
            <p:cNvPr id="47" name="Google Shape;47;p4"/>
            <p:cNvCxnSpPr/>
            <p:nvPr/>
          </p:nvCxnSpPr>
          <p:spPr>
            <a:xfrm>
              <a:off x="155275" y="975588"/>
              <a:ext cx="9394167" cy="0"/>
            </a:xfrm>
            <a:prstGeom prst="straightConnector1">
              <a:avLst/>
            </a:prstGeom>
            <a:noFill/>
            <a:ln cap="flat" cmpd="sng" w="28575">
              <a:solidFill>
                <a:srgbClr val="999B9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" name="Google Shape;48;p4"/>
            <p:cNvCxnSpPr/>
            <p:nvPr/>
          </p:nvCxnSpPr>
          <p:spPr>
            <a:xfrm>
              <a:off x="9549442" y="975588"/>
              <a:ext cx="2484407" cy="0"/>
            </a:xfrm>
            <a:prstGeom prst="straightConnector1">
              <a:avLst/>
            </a:prstGeom>
            <a:noFill/>
            <a:ln cap="flat" cmpd="sng" w="28575">
              <a:solidFill>
                <a:srgbClr val="405D8D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ctrTitle"/>
          </p:nvPr>
        </p:nvSpPr>
        <p:spPr>
          <a:xfrm>
            <a:off x="1524000" y="149689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5"/>
          <p:cNvSpPr txBox="1"/>
          <p:nvPr>
            <p:ph idx="1" type="subTitle"/>
          </p:nvPr>
        </p:nvSpPr>
        <p:spPr>
          <a:xfrm>
            <a:off x="1524000" y="398304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55" name="Google Shape;5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41011" y="281395"/>
            <a:ext cx="2325375" cy="53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/>
          <p:nvPr>
            <p:ph type="title"/>
          </p:nvPr>
        </p:nvSpPr>
        <p:spPr>
          <a:xfrm>
            <a:off x="415681" y="-9850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" name="Google Shape;6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41011" y="281395"/>
            <a:ext cx="2325375" cy="537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" name="Google Shape;64;p6"/>
          <p:cNvGrpSpPr/>
          <p:nvPr/>
        </p:nvGrpSpPr>
        <p:grpSpPr>
          <a:xfrm>
            <a:off x="155275" y="975588"/>
            <a:ext cx="11878574" cy="0"/>
            <a:chOff x="155275" y="975588"/>
            <a:chExt cx="11878574" cy="0"/>
          </a:xfrm>
        </p:grpSpPr>
        <p:cxnSp>
          <p:nvCxnSpPr>
            <p:cNvPr id="65" name="Google Shape;65;p6"/>
            <p:cNvCxnSpPr/>
            <p:nvPr/>
          </p:nvCxnSpPr>
          <p:spPr>
            <a:xfrm>
              <a:off x="155275" y="975588"/>
              <a:ext cx="9394167" cy="0"/>
            </a:xfrm>
            <a:prstGeom prst="straightConnector1">
              <a:avLst/>
            </a:prstGeom>
            <a:noFill/>
            <a:ln cap="flat" cmpd="sng" w="28575">
              <a:solidFill>
                <a:srgbClr val="999B9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" name="Google Shape;66;p6"/>
            <p:cNvCxnSpPr/>
            <p:nvPr/>
          </p:nvCxnSpPr>
          <p:spPr>
            <a:xfrm>
              <a:off x="9549442" y="975588"/>
              <a:ext cx="2484407" cy="0"/>
            </a:xfrm>
            <a:prstGeom prst="straightConnector1">
              <a:avLst/>
            </a:prstGeom>
            <a:noFill/>
            <a:ln cap="flat" cmpd="sng" w="28575">
              <a:solidFill>
                <a:srgbClr val="405D8D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>
  <p:cSld name="비교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1" name="Google Shape;7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7"/>
          <p:cNvSpPr txBox="1"/>
          <p:nvPr>
            <p:ph type="title"/>
          </p:nvPr>
        </p:nvSpPr>
        <p:spPr>
          <a:xfrm>
            <a:off x="415681" y="-16129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6" name="Google Shape;7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41011" y="281395"/>
            <a:ext cx="2325375" cy="537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Google Shape;77;p7"/>
          <p:cNvGrpSpPr/>
          <p:nvPr/>
        </p:nvGrpSpPr>
        <p:grpSpPr>
          <a:xfrm>
            <a:off x="155275" y="975588"/>
            <a:ext cx="11878574" cy="0"/>
            <a:chOff x="155275" y="975588"/>
            <a:chExt cx="11878574" cy="0"/>
          </a:xfrm>
        </p:grpSpPr>
        <p:cxnSp>
          <p:nvCxnSpPr>
            <p:cNvPr id="78" name="Google Shape;78;p7"/>
            <p:cNvCxnSpPr/>
            <p:nvPr/>
          </p:nvCxnSpPr>
          <p:spPr>
            <a:xfrm>
              <a:off x="155275" y="975588"/>
              <a:ext cx="9394167" cy="0"/>
            </a:xfrm>
            <a:prstGeom prst="straightConnector1">
              <a:avLst/>
            </a:prstGeom>
            <a:noFill/>
            <a:ln cap="flat" cmpd="sng" w="28575">
              <a:solidFill>
                <a:srgbClr val="999B9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" name="Google Shape;79;p7"/>
            <p:cNvCxnSpPr/>
            <p:nvPr/>
          </p:nvCxnSpPr>
          <p:spPr>
            <a:xfrm>
              <a:off x="9549442" y="975588"/>
              <a:ext cx="2484407" cy="0"/>
            </a:xfrm>
            <a:prstGeom prst="straightConnector1">
              <a:avLst/>
            </a:prstGeom>
            <a:noFill/>
            <a:ln cap="flat" cmpd="sng" w="28575">
              <a:solidFill>
                <a:srgbClr val="405D8D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 txBox="1"/>
          <p:nvPr>
            <p:ph type="title"/>
          </p:nvPr>
        </p:nvSpPr>
        <p:spPr>
          <a:xfrm>
            <a:off x="839788" y="1163782"/>
            <a:ext cx="3932237" cy="13889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183188" y="1163782"/>
            <a:ext cx="6172200" cy="46972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839788" y="2552700"/>
            <a:ext cx="3932237" cy="3316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1" name="Google Shape;9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 txBox="1"/>
          <p:nvPr>
            <p:ph type="title"/>
          </p:nvPr>
        </p:nvSpPr>
        <p:spPr>
          <a:xfrm>
            <a:off x="415681" y="-9850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0"/>
          <p:cNvSpPr txBox="1"/>
          <p:nvPr>
            <p:ph idx="1" type="body"/>
          </p:nvPr>
        </p:nvSpPr>
        <p:spPr>
          <a:xfrm rot="5400000">
            <a:off x="3722413" y="-1454424"/>
            <a:ext cx="4747174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41011" y="281395"/>
            <a:ext cx="2325375" cy="537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0"/>
          <p:cNvGrpSpPr/>
          <p:nvPr/>
        </p:nvGrpSpPr>
        <p:grpSpPr>
          <a:xfrm>
            <a:off x="155275" y="975588"/>
            <a:ext cx="11878574" cy="0"/>
            <a:chOff x="155275" y="975588"/>
            <a:chExt cx="11878574" cy="0"/>
          </a:xfrm>
        </p:grpSpPr>
        <p:cxnSp>
          <p:nvCxnSpPr>
            <p:cNvPr id="102" name="Google Shape;102;p10"/>
            <p:cNvCxnSpPr/>
            <p:nvPr/>
          </p:nvCxnSpPr>
          <p:spPr>
            <a:xfrm>
              <a:off x="155275" y="975588"/>
              <a:ext cx="9394167" cy="0"/>
            </a:xfrm>
            <a:prstGeom prst="straightConnector1">
              <a:avLst/>
            </a:prstGeom>
            <a:noFill/>
            <a:ln cap="flat" cmpd="sng" w="28575">
              <a:solidFill>
                <a:srgbClr val="999B9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" name="Google Shape;103;p10"/>
            <p:cNvCxnSpPr/>
            <p:nvPr/>
          </p:nvCxnSpPr>
          <p:spPr>
            <a:xfrm>
              <a:off x="9549442" y="975588"/>
              <a:ext cx="2484407" cy="0"/>
            </a:xfrm>
            <a:prstGeom prst="straightConnector1">
              <a:avLst/>
            </a:prstGeom>
            <a:noFill/>
            <a:ln cap="flat" cmpd="sng" w="28575">
              <a:solidFill>
                <a:srgbClr val="405D8D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>
            <p:ph type="title"/>
          </p:nvPr>
        </p:nvSpPr>
        <p:spPr>
          <a:xfrm rot="5400000">
            <a:off x="7590948" y="2414111"/>
            <a:ext cx="4896804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1"/>
          <p:cNvSpPr txBox="1"/>
          <p:nvPr>
            <p:ph idx="1" type="body"/>
          </p:nvPr>
        </p:nvSpPr>
        <p:spPr>
          <a:xfrm rot="5400000">
            <a:off x="2256948" y="-138589"/>
            <a:ext cx="4896803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" type="body"/>
          </p:nvPr>
        </p:nvSpPr>
        <p:spPr>
          <a:xfrm>
            <a:off x="838200" y="1429789"/>
            <a:ext cx="10515600" cy="4747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1"/>
          <p:cNvSpPr/>
          <p:nvPr/>
        </p:nvSpPr>
        <p:spPr>
          <a:xfrm>
            <a:off x="11105508" y="6439388"/>
            <a:ext cx="1410984" cy="532418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1"/>
          <p:cNvSpPr txBox="1"/>
          <p:nvPr>
            <p:ph type="title"/>
          </p:nvPr>
        </p:nvSpPr>
        <p:spPr>
          <a:xfrm>
            <a:off x="415681" y="-9850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/>
        </p:nvSpPr>
        <p:spPr>
          <a:xfrm>
            <a:off x="11582400" y="6396229"/>
            <a:ext cx="567972" cy="427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6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Relationship Id="rId10" Type="http://schemas.openxmlformats.org/officeDocument/2006/relationships/image" Target="../media/image28.png"/><Relationship Id="rId9" Type="http://schemas.openxmlformats.org/officeDocument/2006/relationships/image" Target="../media/image27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36.png"/><Relationship Id="rId8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Relationship Id="rId5" Type="http://schemas.openxmlformats.org/officeDocument/2006/relationships/image" Target="../media/image45.png"/><Relationship Id="rId6" Type="http://schemas.openxmlformats.org/officeDocument/2006/relationships/image" Target="../media/image21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Relationship Id="rId4" Type="http://schemas.openxmlformats.org/officeDocument/2006/relationships/image" Target="../media/image21.png"/><Relationship Id="rId5" Type="http://schemas.openxmlformats.org/officeDocument/2006/relationships/image" Target="../media/image39.png"/><Relationship Id="rId6" Type="http://schemas.openxmlformats.org/officeDocument/2006/relationships/image" Target="../media/image4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39.png"/><Relationship Id="rId6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type="ctrTitle"/>
          </p:nvPr>
        </p:nvSpPr>
        <p:spPr>
          <a:xfrm>
            <a:off x="636332" y="2779251"/>
            <a:ext cx="9753600" cy="1032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/>
              <a:t>랩 미팅</a:t>
            </a:r>
            <a:endParaRPr b="1" sz="4000"/>
          </a:p>
        </p:txBody>
      </p:sp>
      <p:sp>
        <p:nvSpPr>
          <p:cNvPr id="116" name="Google Shape;116;p12"/>
          <p:cNvSpPr/>
          <p:nvPr/>
        </p:nvSpPr>
        <p:spPr>
          <a:xfrm>
            <a:off x="636322" y="4844025"/>
            <a:ext cx="24117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Kyung Hee Univ.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570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Mechanical Eng.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570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Robotics Lab.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570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Master’s 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7570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Hyeonuk kim</a:t>
            </a:r>
            <a:endParaRPr b="0" i="0" sz="1800" u="none" cap="none" strike="noStrike">
              <a:solidFill>
                <a:srgbClr val="7570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7" name="Google Shape;117;p12"/>
          <p:cNvCxnSpPr/>
          <p:nvPr/>
        </p:nvCxnSpPr>
        <p:spPr>
          <a:xfrm>
            <a:off x="559214" y="3151991"/>
            <a:ext cx="0" cy="1077109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" name="Google Shape;118;p12"/>
          <p:cNvCxnSpPr/>
          <p:nvPr/>
        </p:nvCxnSpPr>
        <p:spPr>
          <a:xfrm>
            <a:off x="559214" y="3811638"/>
            <a:ext cx="974048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12"/>
          <p:cNvSpPr txBox="1"/>
          <p:nvPr/>
        </p:nvSpPr>
        <p:spPr>
          <a:xfrm>
            <a:off x="636332" y="3865902"/>
            <a:ext cx="9753600" cy="3089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목차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1885950" y="1672562"/>
            <a:ext cx="58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Transformer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1885947" y="2576220"/>
            <a:ext cx="871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3D Human Pose Estimation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7" name="Google Shape;127;p13"/>
          <p:cNvCxnSpPr/>
          <p:nvPr/>
        </p:nvCxnSpPr>
        <p:spPr>
          <a:xfrm flipH="1" rot="10800000">
            <a:off x="5615500" y="1904450"/>
            <a:ext cx="4519200" cy="1920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3"/>
          <p:cNvSpPr txBox="1"/>
          <p:nvPr/>
        </p:nvSpPr>
        <p:spPr>
          <a:xfrm>
            <a:off x="10260617" y="1672562"/>
            <a:ext cx="33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9" name="Google Shape;129;p13"/>
          <p:cNvCxnSpPr/>
          <p:nvPr/>
        </p:nvCxnSpPr>
        <p:spPr>
          <a:xfrm>
            <a:off x="7762875" y="2806882"/>
            <a:ext cx="2371800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3"/>
          <p:cNvSpPr txBox="1"/>
          <p:nvPr/>
        </p:nvSpPr>
        <p:spPr>
          <a:xfrm>
            <a:off x="10260630" y="2576225"/>
            <a:ext cx="55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Transformer</a:t>
            </a:r>
            <a:endParaRPr/>
          </a:p>
        </p:txBody>
      </p:sp>
      <p:pic>
        <p:nvPicPr>
          <p:cNvPr id="137" name="Google Shape;13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900" y="1258267"/>
            <a:ext cx="9920328" cy="5326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딥러닝 기반의 기계 번역 발전 과정</a:t>
            </a:r>
            <a:endParaRPr/>
          </a:p>
        </p:txBody>
      </p:sp>
      <p:sp>
        <p:nvSpPr>
          <p:cNvPr id="144" name="Google Shape;144;p15"/>
          <p:cNvSpPr txBox="1"/>
          <p:nvPr>
            <p:ph idx="1" type="body"/>
          </p:nvPr>
        </p:nvSpPr>
        <p:spPr>
          <a:xfrm>
            <a:off x="704725" y="1227203"/>
            <a:ext cx="10515600" cy="141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자연어 처리를 문제를 해결하기 위한 Transformer 모델의 등장</a:t>
            </a:r>
            <a:endParaRPr sz="2000"/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RNN, LSTM 과 같은 모델을 대체할 수 있는 혁신적인 구조</a:t>
            </a:r>
            <a:endParaRPr sz="2000"/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자연어 처리 뿐만 아니라 이미지 처리 등 다양한 분야에서도 효과적으로 사용됨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id="145" name="Google Shape;14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25" y="2846218"/>
            <a:ext cx="11087100" cy="33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RNN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5823875" y="1511450"/>
            <a:ext cx="6409200" cy="806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US" sz="2400"/>
              <a:t>모델이 문맥을 학습 하여 결과를 예측</a:t>
            </a:r>
            <a:endParaRPr sz="2400"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225175" y="4214150"/>
            <a:ext cx="5298900" cy="235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018"/>
              <a:buNone/>
            </a:pPr>
            <a:r>
              <a:rPr lang="en-US" sz="1990"/>
              <a:t>ex)</a:t>
            </a:r>
            <a:endParaRPr sz="1990"/>
          </a:p>
          <a:p>
            <a:pPr indent="-296227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65"/>
              <a:buChar char="❖"/>
            </a:pPr>
            <a:r>
              <a:rPr lang="en-US" sz="1990"/>
              <a:t>경마장에 말이 뛰고 있다</a:t>
            </a:r>
            <a:endParaRPr sz="1990"/>
          </a:p>
          <a:p>
            <a:pPr indent="-2962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65"/>
              <a:buChar char="❖"/>
            </a:pPr>
            <a:r>
              <a:rPr lang="en-US" sz="1990"/>
              <a:t>그의 말이 법이다</a:t>
            </a:r>
            <a:endParaRPr sz="1990"/>
          </a:p>
          <a:p>
            <a:pPr indent="-2962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65"/>
              <a:buChar char="❖"/>
            </a:pPr>
            <a:r>
              <a:rPr lang="en-US" sz="1990"/>
              <a:t>가는 말이 고와야 오는 말이 곱다</a:t>
            </a:r>
            <a:endParaRPr sz="199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90"/>
              <a:t> </a:t>
            </a:r>
            <a:endParaRPr sz="1990"/>
          </a:p>
        </p:txBody>
      </p:sp>
      <p:graphicFrame>
        <p:nvGraphicFramePr>
          <p:cNvPr id="154" name="Google Shape;154;p16"/>
          <p:cNvGraphicFramePr/>
          <p:nvPr/>
        </p:nvGraphicFramePr>
        <p:xfrm>
          <a:off x="6096000" y="2229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{2A629182-999F-4BD8-A60B-3A9191D352FB}</a:tableStyleId>
              </a:tblPr>
              <a:tblGrid>
                <a:gridCol w="998400"/>
                <a:gridCol w="2917225"/>
                <a:gridCol w="1162550"/>
              </a:tblGrid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samples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경마장에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말이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경마장에 말이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뛰고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경마장에 말이 뛰고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있다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그의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말이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그의 말이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법이다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가는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말이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가는 말이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고와야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가는 말이 고와야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오는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가는 말이 고와야 오는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말이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가는 말이 고와야 오는 말이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곱다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79592"/>
            <a:ext cx="5519076" cy="2592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RNN</a:t>
            </a:r>
            <a:endParaRPr/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650" y="1876227"/>
            <a:ext cx="10797774" cy="367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" name="Google Shape;168;p18"/>
          <p:cNvGraphicFramePr/>
          <p:nvPr/>
        </p:nvGraphicFramePr>
        <p:xfrm>
          <a:off x="6690425" y="226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{2A629182-999F-4BD8-A60B-3A9191D352FB}</a:tableStyleId>
              </a:tblPr>
              <a:tblGrid>
                <a:gridCol w="998400"/>
                <a:gridCol w="2917225"/>
                <a:gridCol w="1162550"/>
              </a:tblGrid>
              <a:tr h="19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~ </a:t>
                      </a:r>
                      <a:r>
                        <a:rPr lang="en-US"/>
                        <a:t>긴 문맥 </a:t>
                      </a:r>
                      <a:r>
                        <a:rPr lang="en-US"/>
                        <a:t>~ </a:t>
                      </a:r>
                      <a:r>
                        <a:rPr lang="en-US"/>
                        <a:t>뜨거운 음료가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</a:rPr>
                        <a:t>?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9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~ </a:t>
                      </a:r>
                      <a:r>
                        <a:rPr lang="en-US"/>
                        <a:t>긴 문맥 ~ 차가운 음료가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</a:rPr>
                        <a:t>?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152400" y="4039900"/>
            <a:ext cx="5882700" cy="274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50"/>
          </a:p>
          <a:p>
            <a:pPr indent="-352425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950"/>
              <a:buChar char="❖"/>
            </a:pPr>
            <a:r>
              <a:rPr lang="en-US" sz="1950"/>
              <a:t>겨울에는 뜨거운 음료가 즐겁고, 여름에는 뜨거운 음료가 불편하다.</a:t>
            </a:r>
            <a:endParaRPr sz="1950"/>
          </a:p>
          <a:p>
            <a:pPr indent="-3524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50"/>
              <a:buChar char="❖"/>
            </a:pPr>
            <a:r>
              <a:rPr lang="en-US" sz="1950"/>
              <a:t>여름에는 차가운 음료가 좋고, 겨울에는 차가운 음료가 불편하다.</a:t>
            </a:r>
            <a:endParaRPr sz="1950">
              <a:solidFill>
                <a:srgbClr val="FF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50"/>
          </a:p>
        </p:txBody>
      </p:sp>
      <p:sp>
        <p:nvSpPr>
          <p:cNvPr id="170" name="Google Shape;170;p18"/>
          <p:cNvSpPr txBox="1"/>
          <p:nvPr/>
        </p:nvSpPr>
        <p:spPr>
          <a:xfrm>
            <a:off x="6815588" y="4461950"/>
            <a:ext cx="4953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문장이 길어질수록 초기 단어에 대한 정보가 손실됨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" name="Google Shape;17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7192"/>
            <a:ext cx="5709605" cy="268215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RNN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seq2seq Model</a:t>
            </a:r>
            <a:endParaRPr/>
          </a:p>
        </p:txBody>
      </p:sp>
      <p:pic>
        <p:nvPicPr>
          <p:cNvPr id="179" name="Google Shape;17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675" y="1380348"/>
            <a:ext cx="9897600" cy="429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1020750" y="1787575"/>
            <a:ext cx="2567100" cy="1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533600" y="1569875"/>
            <a:ext cx="6801600" cy="12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각각의 단어가 입력으로 들어옴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최종 hidden state 는 최종 Context vector 로써 문장의 정보를 압축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디코더가 이를 바탕으로 출력 시퀀스를 생성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1637600" y="5915075"/>
            <a:ext cx="80646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고정된 크기의 vector 에 모든 정보를 담아야 한다는 한계</a:t>
            </a: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/>
        </p:nvSpPr>
        <p:spPr>
          <a:xfrm>
            <a:off x="757675" y="1433775"/>
            <a:ext cx="9525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 문제 상황 ]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하나의 문맥 벡터가 소스 문장의 모든 정보를 가지고 있어야 하므로 성능이 저하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4857950" y="3139200"/>
            <a:ext cx="1986600" cy="1397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665150" y="4715800"/>
            <a:ext cx="10124700" cy="20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해결 아이디어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]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55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7"/>
              <a:buFont typeface="Times New Roman"/>
              <a:buChar char="●"/>
            </a:pPr>
            <a:r>
              <a:rPr lang="en-US" sz="20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그렇다면 매번 소스 문장에서의 출력 전부를 입력으로 받으면 어떨까?</a:t>
            </a:r>
            <a:endParaRPr sz="204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55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7"/>
              <a:buFont typeface="Times New Roman"/>
              <a:buChar char="●"/>
            </a:pPr>
            <a:r>
              <a:rPr lang="en-US" sz="20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최신 GPU는 많은 메모리와 빠른 병렬 처리가 가능</a:t>
            </a:r>
            <a:endParaRPr sz="204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0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seq2seq Model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351" y="1617425"/>
            <a:ext cx="9518874" cy="493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1075175" y="1569850"/>
            <a:ext cx="75747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디코더에 인코더의 모든 출력을 참고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21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Attention</a:t>
            </a:r>
            <a:endParaRPr sz="4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Attention</a:t>
            </a:r>
            <a:endParaRPr sz="4000"/>
          </a:p>
        </p:txBody>
      </p:sp>
      <p:pic>
        <p:nvPicPr>
          <p:cNvPr id="206" name="Google Shape;2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79592"/>
            <a:ext cx="9610276" cy="532600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5807075" y="1921500"/>
            <a:ext cx="6197100" cy="22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●"/>
            </a:pPr>
            <a:r>
              <a:rPr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인코더의 모든 hidden state이 동일한 기여를 하는것은 아님.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●"/>
            </a:pPr>
            <a:r>
              <a:rPr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디코더의 hidden state를 인코더의 모든 hidden state와의 관련성을 파악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●"/>
            </a:pPr>
            <a:r>
              <a:rPr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attention score 값을 디코더의 출력에 반영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Attention</a:t>
            </a:r>
            <a:endParaRPr/>
          </a:p>
        </p:txBody>
      </p:sp>
      <p:pic>
        <p:nvPicPr>
          <p:cNvPr id="214" name="Google Shape;21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150" y="3821325"/>
            <a:ext cx="5786449" cy="214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/>
        </p:nvSpPr>
        <p:spPr>
          <a:xfrm>
            <a:off x="485775" y="1351150"/>
            <a:ext cx="9297300" cy="17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각 단어를 실수로 구성되어있는 벡터로 임베딩(Embedding)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한 단어와 다른 단어 사이의 관계를 파악하기 위해 Query, Key, Value 값이 필요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임베딩 벡터에 학습가능한 가중치 행렬을 내적하여 Q, K, V 벡터를 생성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7118075" y="4168300"/>
            <a:ext cx="5426700" cy="1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❏"/>
            </a:pPr>
            <a:r>
              <a:rPr b="1" lang="en-US" sz="1600">
                <a:solidFill>
                  <a:schemeClr val="dk1"/>
                </a:solidFill>
              </a:rPr>
              <a:t>Query: 찾고자하는 정보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❏"/>
            </a:pPr>
            <a:r>
              <a:rPr b="1" lang="en-US" sz="1600">
                <a:solidFill>
                  <a:schemeClr val="dk1"/>
                </a:solidFill>
              </a:rPr>
              <a:t>Key: 각 데이터의 특징을 나타내는 정보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❏"/>
            </a:pPr>
            <a:r>
              <a:rPr b="1" lang="en-US" sz="1600">
                <a:solidFill>
                  <a:schemeClr val="dk1"/>
                </a:solidFill>
              </a:rPr>
              <a:t>Value: 해당 데이터의 실제 정보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75" y="1680825"/>
            <a:ext cx="11260249" cy="470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0238" y="1680813"/>
            <a:ext cx="1485351" cy="79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97600" y="1078232"/>
            <a:ext cx="2608651" cy="173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Attention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7338" y="1497030"/>
            <a:ext cx="8294968" cy="3103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325" y="4289349"/>
            <a:ext cx="2070101" cy="20701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 txBox="1"/>
          <p:nvPr/>
        </p:nvSpPr>
        <p:spPr>
          <a:xfrm>
            <a:off x="3955600" y="4704900"/>
            <a:ext cx="7307400" cy="16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다양한 관계 학습</a:t>
            </a:r>
            <a:r>
              <a:rPr lang="en-US" sz="1600">
                <a:solidFill>
                  <a:schemeClr val="dk1"/>
                </a:solidFill>
              </a:rPr>
              <a:t>: 여러 개의 헤드가 서로 다른 정보를 학습하므로, 모델이 입력 간의 다양한 관계를 </a:t>
            </a:r>
            <a:r>
              <a:rPr b="1" lang="en-US" sz="1600">
                <a:solidFill>
                  <a:schemeClr val="dk1"/>
                </a:solidFill>
              </a:rPr>
              <a:t>동시다발적으로 학습</a:t>
            </a:r>
            <a:r>
              <a:rPr lang="en-US" sz="1600">
                <a:solidFill>
                  <a:schemeClr val="dk1"/>
                </a:solidFill>
              </a:rPr>
              <a:t>할 수 있음.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병렬 처리</a:t>
            </a:r>
            <a:r>
              <a:rPr lang="en-US" sz="1600">
                <a:solidFill>
                  <a:schemeClr val="dk1"/>
                </a:solidFill>
              </a:rPr>
              <a:t>: 멀티헤드 어텐션은 여러 헤드를 동시에 계산하기 때문에, </a:t>
            </a:r>
            <a:r>
              <a:rPr b="1" lang="en-US" sz="1600">
                <a:solidFill>
                  <a:schemeClr val="dk1"/>
                </a:solidFill>
              </a:rPr>
              <a:t>병렬 처리</a:t>
            </a:r>
            <a:r>
              <a:rPr lang="en-US" sz="1600">
                <a:solidFill>
                  <a:schemeClr val="dk1"/>
                </a:solidFill>
              </a:rPr>
              <a:t>가 가능하여 효율적인 연산을 지원합니다.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 Head Attention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573850" y="2464750"/>
            <a:ext cx="2544000" cy="10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 = 4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=2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d_k =dim/ head = 2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6"/>
          <p:cNvPicPr preferRelativeResize="0"/>
          <p:nvPr/>
        </p:nvPicPr>
        <p:blipFill rotWithShape="1">
          <a:blip r:embed="rId3">
            <a:alphaModFix/>
          </a:blip>
          <a:srcRect b="-1071" l="0" r="0" t="0"/>
          <a:stretch/>
        </p:blipFill>
        <p:spPr>
          <a:xfrm>
            <a:off x="512700" y="1227200"/>
            <a:ext cx="10778876" cy="499320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 Head Attention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Transformer</a:t>
            </a:r>
            <a:endParaRPr sz="4000"/>
          </a:p>
        </p:txBody>
      </p:sp>
      <p:pic>
        <p:nvPicPr>
          <p:cNvPr id="249" name="Google Shape;2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00" y="1227192"/>
            <a:ext cx="4114233" cy="5326009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7"/>
          <p:cNvSpPr txBox="1"/>
          <p:nvPr/>
        </p:nvSpPr>
        <p:spPr>
          <a:xfrm>
            <a:off x="4675925" y="2402650"/>
            <a:ext cx="7942800" cy="17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트랜스포머는 RNN이나 CNN을 전혀 사용하지 않음.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Attention 과정을 여러 레이어에서 반복 함.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51" name="Google Shape;251;p27"/>
          <p:cNvSpPr txBox="1"/>
          <p:nvPr/>
        </p:nvSpPr>
        <p:spPr>
          <a:xfrm>
            <a:off x="4675925" y="3088250"/>
            <a:ext cx="7172400" cy="17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RNN 뿐만 아니라, 기존 Resnet 기반 CNN 아키텍처보다 높은 정확도를 보임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 Own Research with Transformer</a:t>
            </a:r>
            <a:endParaRPr sz="4000"/>
          </a:p>
        </p:txBody>
      </p:sp>
      <p:sp>
        <p:nvSpPr>
          <p:cNvPr id="258" name="Google Shape;258;p28"/>
          <p:cNvSpPr txBox="1"/>
          <p:nvPr/>
        </p:nvSpPr>
        <p:spPr>
          <a:xfrm>
            <a:off x="568650" y="1306963"/>
            <a:ext cx="11054700" cy="9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-US" sz="2300">
                <a:solidFill>
                  <a:srgbClr val="1F2328"/>
                </a:solidFill>
                <a:highlight>
                  <a:srgbClr val="FFFFFF"/>
                </a:highlight>
              </a:rPr>
              <a:t>KTPFormer: Kinematics and Trajectory Prior Knowledge-Enhanced Transformer for 3D Human Pose Estimation (CVPR2024)</a:t>
            </a:r>
            <a:endParaRPr b="1" sz="2300">
              <a:solidFill>
                <a:srgbClr val="1F2328"/>
              </a:solidFill>
              <a:highlight>
                <a:srgbClr val="FFFFFF"/>
              </a:highlight>
            </a:endParaRPr>
          </a:p>
        </p:txBody>
      </p:sp>
      <p:pic>
        <p:nvPicPr>
          <p:cNvPr id="259" name="Google Shape;2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475" y="2368025"/>
            <a:ext cx="7310945" cy="418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8"/>
          <p:cNvSpPr txBox="1"/>
          <p:nvPr/>
        </p:nvSpPr>
        <p:spPr>
          <a:xfrm>
            <a:off x="7957175" y="2784075"/>
            <a:ext cx="38448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인체의 해부학적 구조를 바탕으로 관절들간의 관계 학습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28"/>
          <p:cNvSpPr txBox="1"/>
          <p:nvPr/>
        </p:nvSpPr>
        <p:spPr>
          <a:xfrm>
            <a:off x="7957175" y="4581550"/>
            <a:ext cx="40257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동일한 관절을 연속된 프레임 간에 연결, 인접하거나 비 인접한 프레임 간의 관계를 학습</a:t>
            </a:r>
            <a:endParaRPr/>
          </a:p>
        </p:txBody>
      </p:sp>
      <p:sp>
        <p:nvSpPr>
          <p:cNvPr id="262" name="Google Shape;262;p28"/>
          <p:cNvSpPr txBox="1"/>
          <p:nvPr/>
        </p:nvSpPr>
        <p:spPr>
          <a:xfrm>
            <a:off x="7603425" y="2198425"/>
            <a:ext cx="39051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❖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Kinematics Attention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8"/>
          <p:cNvSpPr txBox="1"/>
          <p:nvPr/>
        </p:nvSpPr>
        <p:spPr>
          <a:xfrm>
            <a:off x="7546800" y="3892425"/>
            <a:ext cx="39051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❖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Trajectory Attention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64999"/>
            <a:ext cx="7131175" cy="3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9"/>
          <p:cNvSpPr txBox="1"/>
          <p:nvPr/>
        </p:nvSpPr>
        <p:spPr>
          <a:xfrm>
            <a:off x="7224975" y="1376800"/>
            <a:ext cx="4437600" cy="46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MHSA의 문제점</a:t>
            </a:r>
            <a:endParaRPr b="1" sz="20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계산 비용이 큼</a:t>
            </a:r>
            <a:r>
              <a:rPr lang="en-US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MHSA는 입력 시퀀스를 여러 헤드로 나눈 뒤 각각 독립적으로 Attention을 계산하는 방식으로 동작.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모든 Attention Map이 모델 성능에 기여하지 않으며, </a:t>
            </a:r>
            <a:r>
              <a:rPr b="1" lang="en-US" sz="1600">
                <a:solidFill>
                  <a:schemeClr val="dk1"/>
                </a:solidFill>
              </a:rPr>
              <a:t>불필요한 계산이 존재</a:t>
            </a:r>
            <a:r>
              <a:rPr lang="en-US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헤드 간 계산 중복</a:t>
            </a:r>
            <a:r>
              <a:rPr lang="en-US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각 헤드들이 </a:t>
            </a:r>
            <a:r>
              <a:rPr b="1" lang="en-US" sz="1600">
                <a:solidFill>
                  <a:schemeClr val="dk1"/>
                </a:solidFill>
              </a:rPr>
              <a:t>유사한 특징</a:t>
            </a:r>
            <a:r>
              <a:rPr lang="en-US" sz="1600">
                <a:solidFill>
                  <a:schemeClr val="dk1"/>
                </a:solidFill>
              </a:rPr>
              <a:t>을 학습하는 경향이 있음.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이는 </a:t>
            </a:r>
            <a:r>
              <a:rPr b="1" lang="en-US" sz="1600">
                <a:solidFill>
                  <a:schemeClr val="dk1"/>
                </a:solidFill>
              </a:rPr>
              <a:t>코사인 유사도</a:t>
            </a:r>
            <a:r>
              <a:rPr lang="en-US" sz="1600">
                <a:solidFill>
                  <a:schemeClr val="dk1"/>
                </a:solidFill>
              </a:rPr>
              <a:t>를 통해 확인되며, 일부 헤드는 서로 매우 유사한 정보를 처리.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71" name="Google Shape;271;p29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Proposed Idea</a:t>
            </a:r>
            <a:endParaRPr sz="4000"/>
          </a:p>
        </p:txBody>
      </p:sp>
      <p:sp>
        <p:nvSpPr>
          <p:cNvPr id="272" name="Google Shape;272;p29"/>
          <p:cNvSpPr txBox="1"/>
          <p:nvPr/>
        </p:nvSpPr>
        <p:spPr>
          <a:xfrm>
            <a:off x="415675" y="1415300"/>
            <a:ext cx="6507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[1] </a:t>
            </a:r>
            <a:r>
              <a:rPr lang="en-US" sz="1600">
                <a:solidFill>
                  <a:schemeClr val="dk1"/>
                </a:solidFill>
              </a:rPr>
              <a:t>EfficientViT: Memory Efficient Vision Transformer with Cascaded Group Attention (2023)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[2] 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Efficient Memory Management for Large Language Model Serving with PagedAttention (2023)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"/>
          <p:cNvSpPr txBox="1"/>
          <p:nvPr/>
        </p:nvSpPr>
        <p:spPr>
          <a:xfrm>
            <a:off x="757675" y="1433775"/>
            <a:ext cx="9655800" cy="14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 문제 상황 ]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각 헤드들이 유사한 특징을 가지고 있음.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불필요한 계산으로 메모리 비용 증가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30"/>
          <p:cNvSpPr/>
          <p:nvPr/>
        </p:nvSpPr>
        <p:spPr>
          <a:xfrm>
            <a:off x="4857950" y="3139200"/>
            <a:ext cx="1986600" cy="1397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30"/>
          <p:cNvSpPr txBox="1"/>
          <p:nvPr/>
        </p:nvSpPr>
        <p:spPr>
          <a:xfrm>
            <a:off x="665150" y="4715800"/>
            <a:ext cx="10124700" cy="20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 해결 아이디어 ]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55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7"/>
              <a:buFont typeface="Times New Roman"/>
              <a:buChar char="●"/>
            </a:pPr>
            <a:r>
              <a:rPr lang="en-US" sz="20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입력 임베딩 벡터의 특징을 split 하여 각 헤드에 전달 </a:t>
            </a:r>
            <a:endParaRPr sz="204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55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7"/>
              <a:buFont typeface="Times New Roman"/>
              <a:buChar char="●"/>
            </a:pPr>
            <a:r>
              <a:rPr lang="en-US" sz="20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중복된 특징을 가지고 있으므로 차원을 낮춰 불필요한 계산 감소</a:t>
            </a:r>
            <a:endParaRPr sz="204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30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Proposed Idea</a:t>
            </a:r>
            <a:endParaRPr sz="4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7338" y="1497030"/>
            <a:ext cx="8294968" cy="3103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325" y="4289349"/>
            <a:ext cx="2070101" cy="2070101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1"/>
          <p:cNvSpPr txBox="1"/>
          <p:nvPr/>
        </p:nvSpPr>
        <p:spPr>
          <a:xfrm>
            <a:off x="3955600" y="4704900"/>
            <a:ext cx="7307400" cy="16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여러 개의 헤드가 </a:t>
            </a:r>
            <a:r>
              <a:rPr lang="en-US" sz="1600">
                <a:solidFill>
                  <a:schemeClr val="dk1"/>
                </a:solidFill>
              </a:rPr>
              <a:t>입력 임베딩 벡터의 크기를(512) 모두 사용하여 Attention 을 하여 각 헤드에 중복된 정보가 학습됨</a:t>
            </a:r>
            <a:r>
              <a:rPr lang="en-US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각 헤드에서 </a:t>
            </a:r>
            <a:r>
              <a:rPr lang="en-US" sz="1600">
                <a:solidFill>
                  <a:schemeClr val="dk1"/>
                </a:solidFill>
              </a:rPr>
              <a:t>Query, Key </a:t>
            </a:r>
            <a:r>
              <a:rPr lang="en-US" sz="1600">
                <a:solidFill>
                  <a:schemeClr val="dk1"/>
                </a:solidFill>
              </a:rPr>
              <a:t>차원이 64 로 attention 계산시 Tensor Multiplication 에서 많은 메모리 사용이 필요함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90" name="Google Shape;290;p31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Proposed Idea</a:t>
            </a:r>
            <a:endParaRPr sz="4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00" y="1732575"/>
            <a:ext cx="4571999" cy="2011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050" y="4476150"/>
            <a:ext cx="4571999" cy="2011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5201" y="4436275"/>
            <a:ext cx="4572000" cy="2011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78101" y="1732575"/>
            <a:ext cx="4572000" cy="2011679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2"/>
          <p:cNvSpPr txBox="1"/>
          <p:nvPr/>
        </p:nvSpPr>
        <p:spPr>
          <a:xfrm>
            <a:off x="914400" y="1280160"/>
            <a:ext cx="3623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Chanel ⇨ Head 1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914400" y="3931920"/>
            <a:ext cx="3737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Chanel ⇨ Head 2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32"/>
          <p:cNvSpPr txBox="1"/>
          <p:nvPr/>
        </p:nvSpPr>
        <p:spPr>
          <a:xfrm>
            <a:off x="5486400" y="1280160"/>
            <a:ext cx="46677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Chanel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⇨ Head 1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32"/>
          <p:cNvSpPr txBox="1"/>
          <p:nvPr/>
        </p:nvSpPr>
        <p:spPr>
          <a:xfrm>
            <a:off x="5486400" y="3931920"/>
            <a:ext cx="4517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Chanel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⇨ Head 2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32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Proposed Idea</a:t>
            </a:r>
            <a:endParaRPr sz="4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" name="Google Shape;310;p33"/>
          <p:cNvGraphicFramePr/>
          <p:nvPr/>
        </p:nvGraphicFramePr>
        <p:xfrm>
          <a:off x="1060725" y="341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{56C6E112-B16F-45DF-A043-BDB8F1D3007A}</a:tableStyleId>
              </a:tblPr>
              <a:tblGrid>
                <a:gridCol w="408550"/>
                <a:gridCol w="408550"/>
                <a:gridCol w="408550"/>
                <a:gridCol w="408550"/>
              </a:tblGrid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1" name="Google Shape;311;p33"/>
          <p:cNvSpPr txBox="1"/>
          <p:nvPr/>
        </p:nvSpPr>
        <p:spPr>
          <a:xfrm>
            <a:off x="525988" y="3428325"/>
            <a:ext cx="3849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I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12" name="Google Shape;312;p33"/>
          <p:cNvSpPr txBox="1"/>
          <p:nvPr/>
        </p:nvSpPr>
        <p:spPr>
          <a:xfrm>
            <a:off x="473488" y="3779925"/>
            <a:ext cx="5691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love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13" name="Google Shape;313;p33"/>
          <p:cNvSpPr txBox="1"/>
          <p:nvPr/>
        </p:nvSpPr>
        <p:spPr>
          <a:xfrm>
            <a:off x="455338" y="4145100"/>
            <a:ext cx="6054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you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986549" y="2890450"/>
            <a:ext cx="1665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3 x 512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5" name="Google Shape;31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764111" y="3501075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764099" y="3889975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764099" y="4278875"/>
            <a:ext cx="323850" cy="238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8" name="Google Shape;318;p33"/>
          <p:cNvGraphicFramePr/>
          <p:nvPr/>
        </p:nvGraphicFramePr>
        <p:xfrm>
          <a:off x="6085400" y="180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{56C6E112-B16F-45DF-A043-BDB8F1D3007A}</a:tableStyleId>
              </a:tblPr>
              <a:tblGrid>
                <a:gridCol w="382850"/>
                <a:gridCol w="382850"/>
                <a:gridCol w="382850"/>
              </a:tblGrid>
              <a:tr h="29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19" name="Google Shape;31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2475" y="3728067"/>
            <a:ext cx="5334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2463" y="2078855"/>
            <a:ext cx="533400" cy="561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1" name="Google Shape;321;p33"/>
          <p:cNvCxnSpPr>
            <a:stCxn id="316" idx="0"/>
            <a:endCxn id="320" idx="1"/>
          </p:cNvCxnSpPr>
          <p:nvPr/>
        </p:nvCxnSpPr>
        <p:spPr>
          <a:xfrm flipH="1" rot="10800000">
            <a:off x="3045086" y="2359938"/>
            <a:ext cx="1547400" cy="164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33"/>
          <p:cNvCxnSpPr>
            <a:stCxn id="316" idx="0"/>
          </p:cNvCxnSpPr>
          <p:nvPr/>
        </p:nvCxnSpPr>
        <p:spPr>
          <a:xfrm flipH="1" rot="10800000">
            <a:off x="3045086" y="3996138"/>
            <a:ext cx="1547400" cy="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33"/>
          <p:cNvCxnSpPr>
            <a:stCxn id="316" idx="0"/>
            <a:endCxn id="324" idx="1"/>
          </p:cNvCxnSpPr>
          <p:nvPr/>
        </p:nvCxnSpPr>
        <p:spPr>
          <a:xfrm>
            <a:off x="3045086" y="4009038"/>
            <a:ext cx="1588800" cy="218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" name="Google Shape;325;p33"/>
          <p:cNvSpPr txBox="1"/>
          <p:nvPr/>
        </p:nvSpPr>
        <p:spPr>
          <a:xfrm>
            <a:off x="5205913" y="2184050"/>
            <a:ext cx="3849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6" name="Google Shape;32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9050" y="2184050"/>
            <a:ext cx="710232" cy="35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5875" y="3850140"/>
            <a:ext cx="605400" cy="317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19001" y="5896347"/>
            <a:ext cx="710225" cy="358779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3"/>
          <p:cNvSpPr txBox="1"/>
          <p:nvPr/>
        </p:nvSpPr>
        <p:spPr>
          <a:xfrm>
            <a:off x="6085399" y="1283725"/>
            <a:ext cx="1247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512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 </a:t>
            </a: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30" name="Google Shape;330;p33"/>
          <p:cNvGraphicFramePr/>
          <p:nvPr/>
        </p:nvGraphicFramePr>
        <p:xfrm>
          <a:off x="8726875" y="1739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{56C6E112-B16F-45DF-A043-BDB8F1D3007A}</a:tableStyleId>
              </a:tblPr>
              <a:tblGrid>
                <a:gridCol w="408550"/>
                <a:gridCol w="408550"/>
                <a:gridCol w="408550"/>
                <a:gridCol w="408550"/>
              </a:tblGrid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1" name="Google Shape;331;p33"/>
          <p:cNvSpPr txBox="1"/>
          <p:nvPr/>
        </p:nvSpPr>
        <p:spPr>
          <a:xfrm>
            <a:off x="9087975" y="1224175"/>
            <a:ext cx="9120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 </a:t>
            </a: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33"/>
          <p:cNvSpPr/>
          <p:nvPr/>
        </p:nvSpPr>
        <p:spPr>
          <a:xfrm>
            <a:off x="7660175" y="2200025"/>
            <a:ext cx="817500" cy="33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33" name="Google Shape;333;p33"/>
          <p:cNvGraphicFramePr/>
          <p:nvPr/>
        </p:nvGraphicFramePr>
        <p:xfrm>
          <a:off x="6085400" y="355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{56C6E112-B16F-45DF-A043-BDB8F1D3007A}</a:tableStyleId>
              </a:tblPr>
              <a:tblGrid>
                <a:gridCol w="382850"/>
                <a:gridCol w="382850"/>
                <a:gridCol w="382850"/>
              </a:tblGrid>
              <a:tr h="21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4" name="Google Shape;334;p33"/>
          <p:cNvGraphicFramePr/>
          <p:nvPr/>
        </p:nvGraphicFramePr>
        <p:xfrm>
          <a:off x="6085400" y="538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{56C6E112-B16F-45DF-A043-BDB8F1D3007A}</a:tableStyleId>
              </a:tblPr>
              <a:tblGrid>
                <a:gridCol w="382850"/>
                <a:gridCol w="382850"/>
                <a:gridCol w="382850"/>
              </a:tblGrid>
              <a:tr h="29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35" name="Google Shape;33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6800" y="5794750"/>
            <a:ext cx="5334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233161" y="1849575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246686" y="2245775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233161" y="2641975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705299" y="1605000"/>
            <a:ext cx="1039385" cy="1256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0" name="Google Shape;340;p33"/>
          <p:cNvGraphicFramePr/>
          <p:nvPr/>
        </p:nvGraphicFramePr>
        <p:xfrm>
          <a:off x="8726875" y="361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{56C6E112-B16F-45DF-A043-BDB8F1D3007A}</a:tableStyleId>
              </a:tblPr>
              <a:tblGrid>
                <a:gridCol w="408550"/>
                <a:gridCol w="408550"/>
                <a:gridCol w="408550"/>
                <a:gridCol w="408550"/>
              </a:tblGrid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1" name="Google Shape;341;p33"/>
          <p:cNvGraphicFramePr/>
          <p:nvPr/>
        </p:nvGraphicFramePr>
        <p:xfrm>
          <a:off x="8726900" y="5434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{56C6E112-B16F-45DF-A043-BDB8F1D3007A}</a:tableStyleId>
              </a:tblPr>
              <a:tblGrid>
                <a:gridCol w="408550"/>
                <a:gridCol w="408550"/>
                <a:gridCol w="408550"/>
                <a:gridCol w="408550"/>
              </a:tblGrid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2" name="Google Shape;342;p33"/>
          <p:cNvSpPr/>
          <p:nvPr/>
        </p:nvSpPr>
        <p:spPr>
          <a:xfrm>
            <a:off x="7648063" y="3970813"/>
            <a:ext cx="817500" cy="33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33"/>
          <p:cNvSpPr/>
          <p:nvPr/>
        </p:nvSpPr>
        <p:spPr>
          <a:xfrm>
            <a:off x="7594388" y="5775400"/>
            <a:ext cx="817500" cy="33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4" name="Google Shape;344;p3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869062" y="3606200"/>
            <a:ext cx="817500" cy="1217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811375" y="5348224"/>
            <a:ext cx="1039375" cy="1185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893949" y="2984238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497749" y="2997763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101549" y="2984238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0371261" y="1772775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0371249" y="2161675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0371249" y="2550575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0477136" y="3649050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0477124" y="4037950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0477124" y="4426850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0424311" y="5495600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0424299" y="5884500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0424299" y="6273400"/>
            <a:ext cx="3238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3"/>
          <p:cNvSpPr txBox="1"/>
          <p:nvPr/>
        </p:nvSpPr>
        <p:spPr>
          <a:xfrm>
            <a:off x="321075" y="1401000"/>
            <a:ext cx="53502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Query, Key 차원 축소 (64 -&gt; 15)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33"/>
          <p:cNvSpPr txBox="1"/>
          <p:nvPr/>
        </p:nvSpPr>
        <p:spPr>
          <a:xfrm>
            <a:off x="167550" y="4953175"/>
            <a:ext cx="4118700" cy="17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기존 Attention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각 헤드의 키, 쿼리가 중복됨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⇨  잉여 차원 존재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Attention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Query, Key 차원 축소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⇨  메모리 Save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33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Proposed Idea</a:t>
            </a:r>
            <a:endParaRPr sz="4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6" name="Google Shape;366;p34"/>
          <p:cNvGraphicFramePr/>
          <p:nvPr/>
        </p:nvGraphicFramePr>
        <p:xfrm>
          <a:off x="1821625" y="174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{56C6E112-B16F-45DF-A043-BDB8F1D3007A}</a:tableStyleId>
              </a:tblPr>
              <a:tblGrid>
                <a:gridCol w="408550"/>
                <a:gridCol w="408550"/>
                <a:gridCol w="408550"/>
                <a:gridCol w="408550"/>
                <a:gridCol w="408550"/>
                <a:gridCol w="408550"/>
                <a:gridCol w="408550"/>
              </a:tblGrid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7" name="Google Shape;367;p34"/>
          <p:cNvGraphicFramePr/>
          <p:nvPr/>
        </p:nvGraphicFramePr>
        <p:xfrm>
          <a:off x="5673650" y="172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{56C6E112-B16F-45DF-A043-BDB8F1D3007A}</a:tableStyleId>
              </a:tblPr>
              <a:tblGrid>
                <a:gridCol w="382850"/>
                <a:gridCol w="382850"/>
                <a:gridCol w="382850"/>
              </a:tblGrid>
              <a:tr h="29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8" name="Google Shape;368;p34"/>
          <p:cNvSpPr txBox="1"/>
          <p:nvPr/>
        </p:nvSpPr>
        <p:spPr>
          <a:xfrm>
            <a:off x="2371838" y="1227200"/>
            <a:ext cx="1565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 3 x </a:t>
            </a: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34"/>
          <p:cNvSpPr txBox="1"/>
          <p:nvPr/>
        </p:nvSpPr>
        <p:spPr>
          <a:xfrm rot="5400000">
            <a:off x="6550050" y="2908025"/>
            <a:ext cx="1565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</a:t>
            </a: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 3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70" name="Google Shape;370;p34"/>
          <p:cNvGraphicFramePr/>
          <p:nvPr/>
        </p:nvGraphicFramePr>
        <p:xfrm>
          <a:off x="8547338" y="225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{56C6E112-B16F-45DF-A043-BDB8F1D3007A}</a:tableStyleId>
              </a:tblPr>
              <a:tblGrid>
                <a:gridCol w="465450"/>
                <a:gridCol w="465450"/>
                <a:gridCol w="465450"/>
              </a:tblGrid>
              <a:tr h="39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1" name="Google Shape;371;p34"/>
          <p:cNvSpPr txBox="1"/>
          <p:nvPr/>
        </p:nvSpPr>
        <p:spPr>
          <a:xfrm>
            <a:off x="8299013" y="1734225"/>
            <a:ext cx="2028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Attention energy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34"/>
          <p:cNvSpPr/>
          <p:nvPr/>
        </p:nvSpPr>
        <p:spPr>
          <a:xfrm>
            <a:off x="362350" y="5082475"/>
            <a:ext cx="975900" cy="64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73" name="Google Shape;373;p34"/>
          <p:cNvGraphicFramePr/>
          <p:nvPr/>
        </p:nvGraphicFramePr>
        <p:xfrm>
          <a:off x="1874725" y="513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{56C6E112-B16F-45DF-A043-BDB8F1D3007A}</a:tableStyleId>
              </a:tblPr>
              <a:tblGrid>
                <a:gridCol w="465450"/>
                <a:gridCol w="465450"/>
                <a:gridCol w="465450"/>
              </a:tblGrid>
              <a:tr h="39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4" name="Google Shape;374;p34"/>
          <p:cNvSpPr txBox="1"/>
          <p:nvPr/>
        </p:nvSpPr>
        <p:spPr>
          <a:xfrm>
            <a:off x="1558750" y="6291250"/>
            <a:ext cx="2028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Attention energy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5" name="Google Shape;37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7275" y="4374725"/>
            <a:ext cx="1248425" cy="6035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6" name="Google Shape;376;p34"/>
          <p:cNvGraphicFramePr/>
          <p:nvPr/>
        </p:nvGraphicFramePr>
        <p:xfrm>
          <a:off x="4873088" y="5369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{56C6E112-B16F-45DF-A043-BDB8F1D3007A}</a:tableStyleId>
              </a:tblPr>
              <a:tblGrid>
                <a:gridCol w="408550"/>
                <a:gridCol w="408550"/>
                <a:gridCol w="408550"/>
                <a:gridCol w="408550"/>
                <a:gridCol w="408550"/>
                <a:gridCol w="408550"/>
                <a:gridCol w="408550"/>
              </a:tblGrid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7" name="Google Shape;377;p34"/>
          <p:cNvGraphicFramePr/>
          <p:nvPr/>
        </p:nvGraphicFramePr>
        <p:xfrm>
          <a:off x="8556813" y="536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{56C6E112-B16F-45DF-A043-BDB8F1D3007A}</a:tableStyleId>
              </a:tblPr>
              <a:tblGrid>
                <a:gridCol w="408550"/>
                <a:gridCol w="408550"/>
                <a:gridCol w="408550"/>
                <a:gridCol w="408550"/>
                <a:gridCol w="408550"/>
                <a:gridCol w="408550"/>
                <a:gridCol w="408550"/>
              </a:tblGrid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78" name="Google Shape;37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3338" y="3017592"/>
            <a:ext cx="5334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9300" y="5592755"/>
            <a:ext cx="5334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4"/>
          <p:cNvSpPr txBox="1"/>
          <p:nvPr/>
        </p:nvSpPr>
        <p:spPr>
          <a:xfrm>
            <a:off x="5459750" y="4858250"/>
            <a:ext cx="1565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3 x </a:t>
            </a: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1" name="Google Shape;381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98438" y="2632330"/>
            <a:ext cx="60007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0625" y="5727780"/>
            <a:ext cx="600075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4"/>
          <p:cNvSpPr txBox="1"/>
          <p:nvPr/>
        </p:nvSpPr>
        <p:spPr>
          <a:xfrm>
            <a:off x="8577500" y="4787300"/>
            <a:ext cx="2818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Attention Score 3 x 64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384" name="Google Shape;384;p34"/>
          <p:cNvSpPr txBox="1"/>
          <p:nvPr/>
        </p:nvSpPr>
        <p:spPr>
          <a:xfrm>
            <a:off x="2202549" y="4612850"/>
            <a:ext cx="7407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x 3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5" name="Google Shape;385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4816724" y="1768250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4830249" y="2164450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4816724" y="2560650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11523661" y="5389800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11537186" y="5786000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11523661" y="6182200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6482199" y="4361188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6085999" y="4374713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5689799" y="4361188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7717986" y="5395525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7731511" y="5791725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7717986" y="6187925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0175" y="1760325"/>
            <a:ext cx="895130" cy="108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400000">
            <a:off x="7125438" y="3795013"/>
            <a:ext cx="656625" cy="107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69400" y="5291688"/>
            <a:ext cx="1075800" cy="1226787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4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Proposed Idea</a:t>
            </a:r>
            <a:endParaRPr sz="4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/>
          <p:nvPr/>
        </p:nvSpPr>
        <p:spPr>
          <a:xfrm>
            <a:off x="651390" y="4205471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p35"/>
          <p:cNvSpPr/>
          <p:nvPr/>
        </p:nvSpPr>
        <p:spPr>
          <a:xfrm>
            <a:off x="953221" y="4205471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35"/>
          <p:cNvSpPr/>
          <p:nvPr/>
        </p:nvSpPr>
        <p:spPr>
          <a:xfrm>
            <a:off x="1254574" y="4205471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35"/>
          <p:cNvSpPr/>
          <p:nvPr/>
        </p:nvSpPr>
        <p:spPr>
          <a:xfrm>
            <a:off x="556075" y="4305646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35"/>
          <p:cNvSpPr/>
          <p:nvPr/>
        </p:nvSpPr>
        <p:spPr>
          <a:xfrm>
            <a:off x="857905" y="4305646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p35"/>
          <p:cNvSpPr/>
          <p:nvPr/>
        </p:nvSpPr>
        <p:spPr>
          <a:xfrm>
            <a:off x="1159258" y="4305646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35"/>
          <p:cNvSpPr/>
          <p:nvPr/>
        </p:nvSpPr>
        <p:spPr>
          <a:xfrm>
            <a:off x="454126" y="440722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35"/>
          <p:cNvSpPr/>
          <p:nvPr/>
        </p:nvSpPr>
        <p:spPr>
          <a:xfrm>
            <a:off x="755957" y="440722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4" name="Google Shape;414;p35"/>
          <p:cNvSpPr/>
          <p:nvPr/>
        </p:nvSpPr>
        <p:spPr>
          <a:xfrm>
            <a:off x="1057310" y="440722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35"/>
          <p:cNvSpPr/>
          <p:nvPr/>
        </p:nvSpPr>
        <p:spPr>
          <a:xfrm>
            <a:off x="651390" y="3924983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35"/>
          <p:cNvSpPr/>
          <p:nvPr/>
        </p:nvSpPr>
        <p:spPr>
          <a:xfrm>
            <a:off x="953221" y="3924983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35"/>
          <p:cNvSpPr/>
          <p:nvPr/>
        </p:nvSpPr>
        <p:spPr>
          <a:xfrm>
            <a:off x="1254574" y="3924983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35"/>
          <p:cNvSpPr/>
          <p:nvPr/>
        </p:nvSpPr>
        <p:spPr>
          <a:xfrm>
            <a:off x="556075" y="4025159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9" name="Google Shape;419;p35"/>
          <p:cNvSpPr/>
          <p:nvPr/>
        </p:nvSpPr>
        <p:spPr>
          <a:xfrm>
            <a:off x="857905" y="4025159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35"/>
          <p:cNvSpPr/>
          <p:nvPr/>
        </p:nvSpPr>
        <p:spPr>
          <a:xfrm>
            <a:off x="1159258" y="4025159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35"/>
          <p:cNvSpPr/>
          <p:nvPr/>
        </p:nvSpPr>
        <p:spPr>
          <a:xfrm>
            <a:off x="454126" y="4126732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" name="Google Shape;422;p35"/>
          <p:cNvSpPr/>
          <p:nvPr/>
        </p:nvSpPr>
        <p:spPr>
          <a:xfrm>
            <a:off x="755957" y="4126732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3" name="Google Shape;423;p35"/>
          <p:cNvSpPr/>
          <p:nvPr/>
        </p:nvSpPr>
        <p:spPr>
          <a:xfrm>
            <a:off x="1057310" y="4126732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35"/>
          <p:cNvSpPr/>
          <p:nvPr/>
        </p:nvSpPr>
        <p:spPr>
          <a:xfrm>
            <a:off x="651390" y="3632814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5" name="Google Shape;425;p35"/>
          <p:cNvSpPr/>
          <p:nvPr/>
        </p:nvSpPr>
        <p:spPr>
          <a:xfrm>
            <a:off x="953221" y="3632814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35"/>
          <p:cNvSpPr/>
          <p:nvPr/>
        </p:nvSpPr>
        <p:spPr>
          <a:xfrm>
            <a:off x="1254574" y="3632814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p35"/>
          <p:cNvSpPr/>
          <p:nvPr/>
        </p:nvSpPr>
        <p:spPr>
          <a:xfrm>
            <a:off x="556075" y="373299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35"/>
          <p:cNvSpPr/>
          <p:nvPr/>
        </p:nvSpPr>
        <p:spPr>
          <a:xfrm>
            <a:off x="857905" y="373299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35"/>
          <p:cNvSpPr/>
          <p:nvPr/>
        </p:nvSpPr>
        <p:spPr>
          <a:xfrm>
            <a:off x="1159258" y="373299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0" name="Google Shape;430;p35"/>
          <p:cNvSpPr/>
          <p:nvPr/>
        </p:nvSpPr>
        <p:spPr>
          <a:xfrm>
            <a:off x="454126" y="3834563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35"/>
          <p:cNvSpPr/>
          <p:nvPr/>
        </p:nvSpPr>
        <p:spPr>
          <a:xfrm>
            <a:off x="755957" y="3834563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35"/>
          <p:cNvSpPr/>
          <p:nvPr/>
        </p:nvSpPr>
        <p:spPr>
          <a:xfrm>
            <a:off x="1057310" y="3834563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33" name="Google Shape;433;p35"/>
          <p:cNvCxnSpPr/>
          <p:nvPr/>
        </p:nvCxnSpPr>
        <p:spPr>
          <a:xfrm>
            <a:off x="1788593" y="4178696"/>
            <a:ext cx="1187400" cy="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4" name="Google Shape;434;p35"/>
          <p:cNvCxnSpPr/>
          <p:nvPr/>
        </p:nvCxnSpPr>
        <p:spPr>
          <a:xfrm flipH="1" rot="10800000">
            <a:off x="2407336" y="2211233"/>
            <a:ext cx="10500" cy="388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35"/>
          <p:cNvCxnSpPr/>
          <p:nvPr/>
        </p:nvCxnSpPr>
        <p:spPr>
          <a:xfrm>
            <a:off x="2418040" y="2222031"/>
            <a:ext cx="5682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" name="Google Shape;436;p35"/>
          <p:cNvCxnSpPr/>
          <p:nvPr/>
        </p:nvCxnSpPr>
        <p:spPr>
          <a:xfrm>
            <a:off x="2418040" y="6059768"/>
            <a:ext cx="5682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7" name="Google Shape;437;p35"/>
          <p:cNvSpPr/>
          <p:nvPr/>
        </p:nvSpPr>
        <p:spPr>
          <a:xfrm>
            <a:off x="4973960" y="2433331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Q</a:t>
            </a:r>
            <a:endParaRPr sz="1000"/>
          </a:p>
        </p:txBody>
      </p:sp>
      <p:sp>
        <p:nvSpPr>
          <p:cNvPr id="438" name="Google Shape;438;p35"/>
          <p:cNvSpPr/>
          <p:nvPr/>
        </p:nvSpPr>
        <p:spPr>
          <a:xfrm>
            <a:off x="4973960" y="1931040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K</a:t>
            </a:r>
            <a:endParaRPr sz="1000"/>
          </a:p>
        </p:txBody>
      </p:sp>
      <p:sp>
        <p:nvSpPr>
          <p:cNvPr id="439" name="Google Shape;439;p35"/>
          <p:cNvSpPr/>
          <p:nvPr/>
        </p:nvSpPr>
        <p:spPr>
          <a:xfrm>
            <a:off x="4973960" y="1428750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V</a:t>
            </a:r>
            <a:endParaRPr sz="1000"/>
          </a:p>
        </p:txBody>
      </p:sp>
      <p:sp>
        <p:nvSpPr>
          <p:cNvPr id="440" name="Google Shape;440;p35"/>
          <p:cNvSpPr/>
          <p:nvPr/>
        </p:nvSpPr>
        <p:spPr>
          <a:xfrm>
            <a:off x="3117830" y="2351458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35"/>
          <p:cNvSpPr/>
          <p:nvPr/>
        </p:nvSpPr>
        <p:spPr>
          <a:xfrm>
            <a:off x="3419660" y="2351458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35"/>
          <p:cNvSpPr/>
          <p:nvPr/>
        </p:nvSpPr>
        <p:spPr>
          <a:xfrm>
            <a:off x="3721013" y="2351458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35"/>
          <p:cNvSpPr/>
          <p:nvPr/>
        </p:nvSpPr>
        <p:spPr>
          <a:xfrm>
            <a:off x="3118044" y="2030945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4" name="Google Shape;444;p35"/>
          <p:cNvSpPr/>
          <p:nvPr/>
        </p:nvSpPr>
        <p:spPr>
          <a:xfrm>
            <a:off x="3419875" y="2030945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35"/>
          <p:cNvSpPr/>
          <p:nvPr/>
        </p:nvSpPr>
        <p:spPr>
          <a:xfrm>
            <a:off x="3721228" y="2030945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6" name="Google Shape;446;p35"/>
          <p:cNvSpPr/>
          <p:nvPr/>
        </p:nvSpPr>
        <p:spPr>
          <a:xfrm>
            <a:off x="3117714" y="172020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7" name="Google Shape;447;p35"/>
          <p:cNvSpPr/>
          <p:nvPr/>
        </p:nvSpPr>
        <p:spPr>
          <a:xfrm>
            <a:off x="3419545" y="172020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35"/>
          <p:cNvSpPr/>
          <p:nvPr/>
        </p:nvSpPr>
        <p:spPr>
          <a:xfrm>
            <a:off x="3720898" y="172020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35"/>
          <p:cNvSpPr/>
          <p:nvPr/>
        </p:nvSpPr>
        <p:spPr>
          <a:xfrm>
            <a:off x="3102169" y="4258652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0" name="Google Shape;450;p35"/>
          <p:cNvSpPr/>
          <p:nvPr/>
        </p:nvSpPr>
        <p:spPr>
          <a:xfrm>
            <a:off x="3404000" y="4258652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35"/>
          <p:cNvSpPr/>
          <p:nvPr/>
        </p:nvSpPr>
        <p:spPr>
          <a:xfrm>
            <a:off x="3705353" y="4258652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35"/>
          <p:cNvSpPr/>
          <p:nvPr/>
        </p:nvSpPr>
        <p:spPr>
          <a:xfrm>
            <a:off x="3102384" y="393814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35"/>
          <p:cNvSpPr/>
          <p:nvPr/>
        </p:nvSpPr>
        <p:spPr>
          <a:xfrm>
            <a:off x="3404215" y="393814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4" name="Google Shape;454;p35"/>
          <p:cNvSpPr/>
          <p:nvPr/>
        </p:nvSpPr>
        <p:spPr>
          <a:xfrm>
            <a:off x="3705568" y="393814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p35"/>
          <p:cNvSpPr/>
          <p:nvPr/>
        </p:nvSpPr>
        <p:spPr>
          <a:xfrm>
            <a:off x="3102054" y="3627394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p35"/>
          <p:cNvSpPr/>
          <p:nvPr/>
        </p:nvSpPr>
        <p:spPr>
          <a:xfrm>
            <a:off x="3403885" y="3627394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7" name="Google Shape;457;p35"/>
          <p:cNvSpPr/>
          <p:nvPr/>
        </p:nvSpPr>
        <p:spPr>
          <a:xfrm>
            <a:off x="3705238" y="3627394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8" name="Google Shape;458;p35"/>
          <p:cNvSpPr/>
          <p:nvPr/>
        </p:nvSpPr>
        <p:spPr>
          <a:xfrm>
            <a:off x="3102235" y="6013159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p35"/>
          <p:cNvSpPr/>
          <p:nvPr/>
        </p:nvSpPr>
        <p:spPr>
          <a:xfrm>
            <a:off x="3404066" y="6013159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p35"/>
          <p:cNvSpPr/>
          <p:nvPr/>
        </p:nvSpPr>
        <p:spPr>
          <a:xfrm>
            <a:off x="3705419" y="6013159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35"/>
          <p:cNvSpPr/>
          <p:nvPr/>
        </p:nvSpPr>
        <p:spPr>
          <a:xfrm>
            <a:off x="3102450" y="5692646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p35"/>
          <p:cNvSpPr/>
          <p:nvPr/>
        </p:nvSpPr>
        <p:spPr>
          <a:xfrm>
            <a:off x="3404281" y="5692646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3" name="Google Shape;463;p35"/>
          <p:cNvSpPr/>
          <p:nvPr/>
        </p:nvSpPr>
        <p:spPr>
          <a:xfrm>
            <a:off x="3705634" y="5692646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4" name="Google Shape;464;p35"/>
          <p:cNvSpPr/>
          <p:nvPr/>
        </p:nvSpPr>
        <p:spPr>
          <a:xfrm>
            <a:off x="3102120" y="5381901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5" name="Google Shape;465;p35"/>
          <p:cNvSpPr/>
          <p:nvPr/>
        </p:nvSpPr>
        <p:spPr>
          <a:xfrm>
            <a:off x="3403951" y="5381901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p35"/>
          <p:cNvSpPr/>
          <p:nvPr/>
        </p:nvSpPr>
        <p:spPr>
          <a:xfrm>
            <a:off x="3705304" y="5381901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7" name="Google Shape;467;p35"/>
          <p:cNvCxnSpPr/>
          <p:nvPr/>
        </p:nvCxnSpPr>
        <p:spPr>
          <a:xfrm>
            <a:off x="4226033" y="2247608"/>
            <a:ext cx="5637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8" name="Google Shape;468;p35"/>
          <p:cNvCxnSpPr/>
          <p:nvPr/>
        </p:nvCxnSpPr>
        <p:spPr>
          <a:xfrm flipH="1" rot="10800000">
            <a:off x="4519578" y="1733923"/>
            <a:ext cx="5100" cy="101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35"/>
          <p:cNvCxnSpPr/>
          <p:nvPr/>
        </p:nvCxnSpPr>
        <p:spPr>
          <a:xfrm>
            <a:off x="4524656" y="1737071"/>
            <a:ext cx="2697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0" name="Google Shape;470;p35"/>
          <p:cNvCxnSpPr/>
          <p:nvPr/>
        </p:nvCxnSpPr>
        <p:spPr>
          <a:xfrm>
            <a:off x="4524656" y="2738421"/>
            <a:ext cx="2697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1" name="Google Shape;471;p35"/>
          <p:cNvCxnSpPr>
            <a:stCxn id="472" idx="6"/>
          </p:cNvCxnSpPr>
          <p:nvPr/>
        </p:nvCxnSpPr>
        <p:spPr>
          <a:xfrm flipH="1" rot="10800000">
            <a:off x="4385700" y="4185900"/>
            <a:ext cx="3702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3" name="Google Shape;473;p35"/>
          <p:cNvCxnSpPr/>
          <p:nvPr/>
        </p:nvCxnSpPr>
        <p:spPr>
          <a:xfrm flipH="1" rot="10800000">
            <a:off x="4488257" y="3676905"/>
            <a:ext cx="5100" cy="101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35"/>
          <p:cNvCxnSpPr/>
          <p:nvPr/>
        </p:nvCxnSpPr>
        <p:spPr>
          <a:xfrm>
            <a:off x="4493336" y="3680054"/>
            <a:ext cx="2697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5" name="Google Shape;475;p35"/>
          <p:cNvCxnSpPr/>
          <p:nvPr/>
        </p:nvCxnSpPr>
        <p:spPr>
          <a:xfrm>
            <a:off x="4493336" y="4681404"/>
            <a:ext cx="2697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6" name="Google Shape;476;p35"/>
          <p:cNvCxnSpPr/>
          <p:nvPr/>
        </p:nvCxnSpPr>
        <p:spPr>
          <a:xfrm flipH="1" rot="10800000">
            <a:off x="4488390" y="5395624"/>
            <a:ext cx="5100" cy="101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35"/>
          <p:cNvCxnSpPr/>
          <p:nvPr/>
        </p:nvCxnSpPr>
        <p:spPr>
          <a:xfrm>
            <a:off x="4493468" y="5398772"/>
            <a:ext cx="2697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35"/>
          <p:cNvCxnSpPr/>
          <p:nvPr/>
        </p:nvCxnSpPr>
        <p:spPr>
          <a:xfrm>
            <a:off x="4493468" y="6400122"/>
            <a:ext cx="2697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9" name="Google Shape;479;p35"/>
          <p:cNvSpPr/>
          <p:nvPr/>
        </p:nvSpPr>
        <p:spPr>
          <a:xfrm rot="5400000">
            <a:off x="6522425" y="1836700"/>
            <a:ext cx="1584900" cy="67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attention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35"/>
          <p:cNvSpPr/>
          <p:nvPr/>
        </p:nvSpPr>
        <p:spPr>
          <a:xfrm rot="5400000">
            <a:off x="6516925" y="3751075"/>
            <a:ext cx="1584900" cy="67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attention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p35"/>
          <p:cNvSpPr/>
          <p:nvPr/>
        </p:nvSpPr>
        <p:spPr>
          <a:xfrm rot="5400000">
            <a:off x="6561575" y="5564825"/>
            <a:ext cx="1584900" cy="67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attention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35"/>
          <p:cNvSpPr/>
          <p:nvPr/>
        </p:nvSpPr>
        <p:spPr>
          <a:xfrm>
            <a:off x="4950185" y="4487593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Q</a:t>
            </a:r>
            <a:endParaRPr sz="1000"/>
          </a:p>
        </p:txBody>
      </p:sp>
      <p:sp>
        <p:nvSpPr>
          <p:cNvPr id="483" name="Google Shape;483;p35"/>
          <p:cNvSpPr/>
          <p:nvPr/>
        </p:nvSpPr>
        <p:spPr>
          <a:xfrm>
            <a:off x="4950185" y="3985303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K</a:t>
            </a:r>
            <a:endParaRPr sz="1000"/>
          </a:p>
        </p:txBody>
      </p:sp>
      <p:sp>
        <p:nvSpPr>
          <p:cNvPr id="484" name="Google Shape;484;p35"/>
          <p:cNvSpPr/>
          <p:nvPr/>
        </p:nvSpPr>
        <p:spPr>
          <a:xfrm>
            <a:off x="4950185" y="3483012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V</a:t>
            </a:r>
            <a:endParaRPr sz="1000"/>
          </a:p>
        </p:txBody>
      </p:sp>
      <p:sp>
        <p:nvSpPr>
          <p:cNvPr id="485" name="Google Shape;485;p35"/>
          <p:cNvSpPr/>
          <p:nvPr/>
        </p:nvSpPr>
        <p:spPr>
          <a:xfrm>
            <a:off x="4973960" y="6215543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Q</a:t>
            </a:r>
            <a:endParaRPr sz="1000"/>
          </a:p>
        </p:txBody>
      </p:sp>
      <p:sp>
        <p:nvSpPr>
          <p:cNvPr id="486" name="Google Shape;486;p35"/>
          <p:cNvSpPr/>
          <p:nvPr/>
        </p:nvSpPr>
        <p:spPr>
          <a:xfrm>
            <a:off x="4973960" y="5713253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K</a:t>
            </a:r>
            <a:endParaRPr sz="1000"/>
          </a:p>
        </p:txBody>
      </p:sp>
      <p:sp>
        <p:nvSpPr>
          <p:cNvPr id="487" name="Google Shape;487;p35"/>
          <p:cNvSpPr/>
          <p:nvPr/>
        </p:nvSpPr>
        <p:spPr>
          <a:xfrm>
            <a:off x="4973960" y="5210962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V</a:t>
            </a:r>
            <a:endParaRPr sz="1000"/>
          </a:p>
        </p:txBody>
      </p:sp>
      <p:cxnSp>
        <p:nvCxnSpPr>
          <p:cNvPr id="488" name="Google Shape;488;p35"/>
          <p:cNvCxnSpPr/>
          <p:nvPr/>
        </p:nvCxnSpPr>
        <p:spPr>
          <a:xfrm>
            <a:off x="5724100" y="2131425"/>
            <a:ext cx="12330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9" name="Google Shape;489;p35"/>
          <p:cNvCxnSpPr/>
          <p:nvPr/>
        </p:nvCxnSpPr>
        <p:spPr>
          <a:xfrm>
            <a:off x="5711125" y="2633275"/>
            <a:ext cx="12372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0" name="Google Shape;490;p35"/>
          <p:cNvCxnSpPr/>
          <p:nvPr/>
        </p:nvCxnSpPr>
        <p:spPr>
          <a:xfrm flipH="1" rot="10800000">
            <a:off x="5711125" y="1610975"/>
            <a:ext cx="12657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1" name="Google Shape;491;p35"/>
          <p:cNvCxnSpPr/>
          <p:nvPr/>
        </p:nvCxnSpPr>
        <p:spPr>
          <a:xfrm flipH="1" rot="10800000">
            <a:off x="5704375" y="4199388"/>
            <a:ext cx="12294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2" name="Google Shape;492;p35"/>
          <p:cNvCxnSpPr/>
          <p:nvPr/>
        </p:nvCxnSpPr>
        <p:spPr>
          <a:xfrm flipH="1" rot="10800000">
            <a:off x="5691400" y="4699138"/>
            <a:ext cx="12426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3" name="Google Shape;493;p35"/>
          <p:cNvCxnSpPr/>
          <p:nvPr/>
        </p:nvCxnSpPr>
        <p:spPr>
          <a:xfrm flipH="1" rot="10800000">
            <a:off x="5691400" y="3681038"/>
            <a:ext cx="12657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4" name="Google Shape;494;p35"/>
          <p:cNvCxnSpPr/>
          <p:nvPr/>
        </p:nvCxnSpPr>
        <p:spPr>
          <a:xfrm>
            <a:off x="5738588" y="5910963"/>
            <a:ext cx="12444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5" name="Google Shape;495;p35"/>
          <p:cNvCxnSpPr/>
          <p:nvPr/>
        </p:nvCxnSpPr>
        <p:spPr>
          <a:xfrm flipH="1" rot="10800000">
            <a:off x="5725613" y="6411913"/>
            <a:ext cx="1244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6" name="Google Shape;496;p35"/>
          <p:cNvCxnSpPr/>
          <p:nvPr/>
        </p:nvCxnSpPr>
        <p:spPr>
          <a:xfrm flipH="1" rot="10800000">
            <a:off x="5725613" y="5390513"/>
            <a:ext cx="12657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7" name="Google Shape;497;p35"/>
          <p:cNvSpPr/>
          <p:nvPr/>
        </p:nvSpPr>
        <p:spPr>
          <a:xfrm>
            <a:off x="8411230" y="2243733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35"/>
          <p:cNvSpPr/>
          <p:nvPr/>
        </p:nvSpPr>
        <p:spPr>
          <a:xfrm>
            <a:off x="8713060" y="2243733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35"/>
          <p:cNvSpPr/>
          <p:nvPr/>
        </p:nvSpPr>
        <p:spPr>
          <a:xfrm>
            <a:off x="9014413" y="2243733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35"/>
          <p:cNvSpPr/>
          <p:nvPr/>
        </p:nvSpPr>
        <p:spPr>
          <a:xfrm>
            <a:off x="8411444" y="1923220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35"/>
          <p:cNvSpPr/>
          <p:nvPr/>
        </p:nvSpPr>
        <p:spPr>
          <a:xfrm>
            <a:off x="8713275" y="1923220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35"/>
          <p:cNvSpPr/>
          <p:nvPr/>
        </p:nvSpPr>
        <p:spPr>
          <a:xfrm>
            <a:off x="9014628" y="1923220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35"/>
          <p:cNvSpPr/>
          <p:nvPr/>
        </p:nvSpPr>
        <p:spPr>
          <a:xfrm>
            <a:off x="8411114" y="1612475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4" name="Google Shape;504;p35"/>
          <p:cNvSpPr/>
          <p:nvPr/>
        </p:nvSpPr>
        <p:spPr>
          <a:xfrm>
            <a:off x="8712945" y="1612475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p35"/>
          <p:cNvSpPr/>
          <p:nvPr/>
        </p:nvSpPr>
        <p:spPr>
          <a:xfrm>
            <a:off x="9014298" y="1612475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6" name="Google Shape;506;p35"/>
          <p:cNvSpPr/>
          <p:nvPr/>
        </p:nvSpPr>
        <p:spPr>
          <a:xfrm>
            <a:off x="8395569" y="4150927"/>
            <a:ext cx="408000" cy="420000"/>
          </a:xfrm>
          <a:prstGeom prst="cube">
            <a:avLst>
              <a:gd fmla="val 25000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7" name="Google Shape;507;p35"/>
          <p:cNvSpPr/>
          <p:nvPr/>
        </p:nvSpPr>
        <p:spPr>
          <a:xfrm>
            <a:off x="8697400" y="4150927"/>
            <a:ext cx="408000" cy="420000"/>
          </a:xfrm>
          <a:prstGeom prst="cube">
            <a:avLst>
              <a:gd fmla="val 25000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p35"/>
          <p:cNvSpPr/>
          <p:nvPr/>
        </p:nvSpPr>
        <p:spPr>
          <a:xfrm>
            <a:off x="8998753" y="4150927"/>
            <a:ext cx="408000" cy="420000"/>
          </a:xfrm>
          <a:prstGeom prst="cube">
            <a:avLst>
              <a:gd fmla="val 25000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35"/>
          <p:cNvSpPr/>
          <p:nvPr/>
        </p:nvSpPr>
        <p:spPr>
          <a:xfrm>
            <a:off x="8395784" y="3830415"/>
            <a:ext cx="408000" cy="420000"/>
          </a:xfrm>
          <a:prstGeom prst="cube">
            <a:avLst>
              <a:gd fmla="val 25000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35"/>
          <p:cNvSpPr/>
          <p:nvPr/>
        </p:nvSpPr>
        <p:spPr>
          <a:xfrm>
            <a:off x="8697615" y="3830415"/>
            <a:ext cx="408000" cy="420000"/>
          </a:xfrm>
          <a:prstGeom prst="cube">
            <a:avLst>
              <a:gd fmla="val 25000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1" name="Google Shape;511;p35"/>
          <p:cNvSpPr/>
          <p:nvPr/>
        </p:nvSpPr>
        <p:spPr>
          <a:xfrm>
            <a:off x="8998968" y="3830415"/>
            <a:ext cx="408000" cy="420000"/>
          </a:xfrm>
          <a:prstGeom prst="cube">
            <a:avLst>
              <a:gd fmla="val 25000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2" name="Google Shape;512;p35"/>
          <p:cNvSpPr/>
          <p:nvPr/>
        </p:nvSpPr>
        <p:spPr>
          <a:xfrm>
            <a:off x="8395454" y="3519669"/>
            <a:ext cx="408000" cy="420000"/>
          </a:xfrm>
          <a:prstGeom prst="cube">
            <a:avLst>
              <a:gd fmla="val 25000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3" name="Google Shape;513;p35"/>
          <p:cNvSpPr/>
          <p:nvPr/>
        </p:nvSpPr>
        <p:spPr>
          <a:xfrm>
            <a:off x="8697285" y="3519669"/>
            <a:ext cx="408000" cy="420000"/>
          </a:xfrm>
          <a:prstGeom prst="cube">
            <a:avLst>
              <a:gd fmla="val 25000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p35"/>
          <p:cNvSpPr/>
          <p:nvPr/>
        </p:nvSpPr>
        <p:spPr>
          <a:xfrm>
            <a:off x="8998638" y="3519669"/>
            <a:ext cx="408000" cy="420000"/>
          </a:xfrm>
          <a:prstGeom prst="cube">
            <a:avLst>
              <a:gd fmla="val 25000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p35"/>
          <p:cNvSpPr/>
          <p:nvPr/>
        </p:nvSpPr>
        <p:spPr>
          <a:xfrm>
            <a:off x="8395635" y="5905434"/>
            <a:ext cx="408000" cy="420000"/>
          </a:xfrm>
          <a:prstGeom prst="cube">
            <a:avLst>
              <a:gd fmla="val 2500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6" name="Google Shape;516;p35"/>
          <p:cNvSpPr/>
          <p:nvPr/>
        </p:nvSpPr>
        <p:spPr>
          <a:xfrm>
            <a:off x="8697466" y="5905434"/>
            <a:ext cx="408000" cy="420000"/>
          </a:xfrm>
          <a:prstGeom prst="cube">
            <a:avLst>
              <a:gd fmla="val 2500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7" name="Google Shape;517;p35"/>
          <p:cNvSpPr/>
          <p:nvPr/>
        </p:nvSpPr>
        <p:spPr>
          <a:xfrm>
            <a:off x="8998819" y="5905434"/>
            <a:ext cx="408000" cy="420000"/>
          </a:xfrm>
          <a:prstGeom prst="cube">
            <a:avLst>
              <a:gd fmla="val 2500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8" name="Google Shape;518;p35"/>
          <p:cNvSpPr/>
          <p:nvPr/>
        </p:nvSpPr>
        <p:spPr>
          <a:xfrm>
            <a:off x="8395850" y="5584921"/>
            <a:ext cx="408000" cy="420000"/>
          </a:xfrm>
          <a:prstGeom prst="cube">
            <a:avLst>
              <a:gd fmla="val 2500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p35"/>
          <p:cNvSpPr/>
          <p:nvPr/>
        </p:nvSpPr>
        <p:spPr>
          <a:xfrm>
            <a:off x="8697681" y="5584921"/>
            <a:ext cx="408000" cy="420000"/>
          </a:xfrm>
          <a:prstGeom prst="cube">
            <a:avLst>
              <a:gd fmla="val 2500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0" name="Google Shape;520;p35"/>
          <p:cNvSpPr/>
          <p:nvPr/>
        </p:nvSpPr>
        <p:spPr>
          <a:xfrm>
            <a:off x="8999034" y="5584921"/>
            <a:ext cx="408000" cy="420000"/>
          </a:xfrm>
          <a:prstGeom prst="cube">
            <a:avLst>
              <a:gd fmla="val 2500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1" name="Google Shape;521;p35"/>
          <p:cNvSpPr/>
          <p:nvPr/>
        </p:nvSpPr>
        <p:spPr>
          <a:xfrm>
            <a:off x="8395520" y="5274176"/>
            <a:ext cx="408000" cy="420000"/>
          </a:xfrm>
          <a:prstGeom prst="cube">
            <a:avLst>
              <a:gd fmla="val 2500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2" name="Google Shape;522;p35"/>
          <p:cNvSpPr/>
          <p:nvPr/>
        </p:nvSpPr>
        <p:spPr>
          <a:xfrm>
            <a:off x="8697351" y="5274176"/>
            <a:ext cx="408000" cy="420000"/>
          </a:xfrm>
          <a:prstGeom prst="cube">
            <a:avLst>
              <a:gd fmla="val 2500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3" name="Google Shape;523;p35"/>
          <p:cNvSpPr/>
          <p:nvPr/>
        </p:nvSpPr>
        <p:spPr>
          <a:xfrm>
            <a:off x="8998704" y="5274176"/>
            <a:ext cx="408000" cy="420000"/>
          </a:xfrm>
          <a:prstGeom prst="cube">
            <a:avLst>
              <a:gd fmla="val 2500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4" name="Google Shape;52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3359849" y="4690588"/>
            <a:ext cx="3238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5"/>
          <p:cNvSpPr txBox="1"/>
          <p:nvPr/>
        </p:nvSpPr>
        <p:spPr>
          <a:xfrm>
            <a:off x="214100" y="4979875"/>
            <a:ext cx="20277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Input.shape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p35"/>
          <p:cNvSpPr txBox="1"/>
          <p:nvPr/>
        </p:nvSpPr>
        <p:spPr>
          <a:xfrm>
            <a:off x="3211275" y="1227200"/>
            <a:ext cx="949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1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7" name="Google Shape;527;p35"/>
          <p:cNvSpPr txBox="1"/>
          <p:nvPr/>
        </p:nvSpPr>
        <p:spPr>
          <a:xfrm>
            <a:off x="3133125" y="3106100"/>
            <a:ext cx="949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2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8" name="Google Shape;528;p35"/>
          <p:cNvSpPr txBox="1"/>
          <p:nvPr/>
        </p:nvSpPr>
        <p:spPr>
          <a:xfrm>
            <a:off x="3133125" y="4889900"/>
            <a:ext cx="949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8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9" name="Google Shape;529;p35"/>
          <p:cNvSpPr/>
          <p:nvPr/>
        </p:nvSpPr>
        <p:spPr>
          <a:xfrm>
            <a:off x="4271683" y="4144320"/>
            <a:ext cx="90900" cy="85800"/>
          </a:xfrm>
          <a:prstGeom prst="mathPlus">
            <a:avLst>
              <a:gd fmla="val 235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2" name="Google Shape;472;p35"/>
          <p:cNvSpPr/>
          <p:nvPr/>
        </p:nvSpPr>
        <p:spPr>
          <a:xfrm>
            <a:off x="4248600" y="4118850"/>
            <a:ext cx="137100" cy="137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30" name="Google Shape;530;p35"/>
          <p:cNvCxnSpPr/>
          <p:nvPr/>
        </p:nvCxnSpPr>
        <p:spPr>
          <a:xfrm rot="10800000">
            <a:off x="4158400" y="4186325"/>
            <a:ext cx="89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35"/>
          <p:cNvCxnSpPr/>
          <p:nvPr/>
        </p:nvCxnSpPr>
        <p:spPr>
          <a:xfrm flipH="1" rot="10800000">
            <a:off x="4388075" y="5934875"/>
            <a:ext cx="3702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2" name="Google Shape;532;p35"/>
          <p:cNvCxnSpPr/>
          <p:nvPr/>
        </p:nvCxnSpPr>
        <p:spPr>
          <a:xfrm rot="10800000">
            <a:off x="4160775" y="5935300"/>
            <a:ext cx="89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35"/>
          <p:cNvSpPr/>
          <p:nvPr/>
        </p:nvSpPr>
        <p:spPr>
          <a:xfrm>
            <a:off x="4271658" y="5892545"/>
            <a:ext cx="90900" cy="85800"/>
          </a:xfrm>
          <a:prstGeom prst="mathPlus">
            <a:avLst>
              <a:gd fmla="val 235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4" name="Google Shape;534;p35"/>
          <p:cNvSpPr/>
          <p:nvPr/>
        </p:nvSpPr>
        <p:spPr>
          <a:xfrm>
            <a:off x="4248575" y="5867075"/>
            <a:ext cx="137100" cy="137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35" name="Google Shape;535;p35"/>
          <p:cNvCxnSpPr>
            <a:stCxn id="498" idx="3"/>
          </p:cNvCxnSpPr>
          <p:nvPr/>
        </p:nvCxnSpPr>
        <p:spPr>
          <a:xfrm flipH="1">
            <a:off x="8865760" y="2663733"/>
            <a:ext cx="300" cy="4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35"/>
          <p:cNvCxnSpPr/>
          <p:nvPr/>
        </p:nvCxnSpPr>
        <p:spPr>
          <a:xfrm flipH="1">
            <a:off x="4313900" y="3093150"/>
            <a:ext cx="4555500" cy="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35"/>
          <p:cNvCxnSpPr/>
          <p:nvPr/>
        </p:nvCxnSpPr>
        <p:spPr>
          <a:xfrm>
            <a:off x="4317000" y="3096025"/>
            <a:ext cx="300" cy="99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8" name="Google Shape;538;p35"/>
          <p:cNvCxnSpPr>
            <a:stCxn id="507" idx="3"/>
          </p:cNvCxnSpPr>
          <p:nvPr/>
        </p:nvCxnSpPr>
        <p:spPr>
          <a:xfrm flipH="1">
            <a:off x="8848300" y="4570927"/>
            <a:ext cx="2100" cy="48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35"/>
          <p:cNvCxnSpPr/>
          <p:nvPr/>
        </p:nvCxnSpPr>
        <p:spPr>
          <a:xfrm rot="10800000">
            <a:off x="4303850" y="5051175"/>
            <a:ext cx="4557300" cy="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35"/>
          <p:cNvCxnSpPr/>
          <p:nvPr/>
        </p:nvCxnSpPr>
        <p:spPr>
          <a:xfrm>
            <a:off x="4311450" y="5055400"/>
            <a:ext cx="900" cy="80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" name="Google Shape;541;p35"/>
          <p:cNvCxnSpPr>
            <a:stCxn id="479" idx="0"/>
          </p:cNvCxnSpPr>
          <p:nvPr/>
        </p:nvCxnSpPr>
        <p:spPr>
          <a:xfrm>
            <a:off x="7652525" y="2174350"/>
            <a:ext cx="5661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" name="Google Shape;542;p35"/>
          <p:cNvCxnSpPr/>
          <p:nvPr/>
        </p:nvCxnSpPr>
        <p:spPr>
          <a:xfrm>
            <a:off x="7652525" y="4103238"/>
            <a:ext cx="5661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3" name="Google Shape;543;p35"/>
          <p:cNvCxnSpPr/>
          <p:nvPr/>
        </p:nvCxnSpPr>
        <p:spPr>
          <a:xfrm>
            <a:off x="7691675" y="5950125"/>
            <a:ext cx="5661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4" name="Google Shape;544;p35"/>
          <p:cNvSpPr/>
          <p:nvPr/>
        </p:nvSpPr>
        <p:spPr>
          <a:xfrm rot="-5400000">
            <a:off x="8148775" y="3712950"/>
            <a:ext cx="4347900" cy="542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Concat &amp; Projection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45" name="Google Shape;545;p35"/>
          <p:cNvCxnSpPr/>
          <p:nvPr/>
        </p:nvCxnSpPr>
        <p:spPr>
          <a:xfrm>
            <a:off x="9422300" y="2054663"/>
            <a:ext cx="5661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6" name="Google Shape;546;p35"/>
          <p:cNvCxnSpPr/>
          <p:nvPr/>
        </p:nvCxnSpPr>
        <p:spPr>
          <a:xfrm>
            <a:off x="9422300" y="3983550"/>
            <a:ext cx="5661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7" name="Google Shape;547;p35"/>
          <p:cNvCxnSpPr/>
          <p:nvPr/>
        </p:nvCxnSpPr>
        <p:spPr>
          <a:xfrm>
            <a:off x="9461450" y="5830438"/>
            <a:ext cx="5661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8" name="Google Shape;548;p35"/>
          <p:cNvSpPr/>
          <p:nvPr/>
        </p:nvSpPr>
        <p:spPr>
          <a:xfrm>
            <a:off x="11048365" y="3959446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9" name="Google Shape;549;p35"/>
          <p:cNvSpPr/>
          <p:nvPr/>
        </p:nvSpPr>
        <p:spPr>
          <a:xfrm>
            <a:off x="11350196" y="3959446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35"/>
          <p:cNvSpPr/>
          <p:nvPr/>
        </p:nvSpPr>
        <p:spPr>
          <a:xfrm>
            <a:off x="11651549" y="3959446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1" name="Google Shape;551;p35"/>
          <p:cNvSpPr/>
          <p:nvPr/>
        </p:nvSpPr>
        <p:spPr>
          <a:xfrm>
            <a:off x="10953050" y="4059621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2" name="Google Shape;552;p35"/>
          <p:cNvSpPr/>
          <p:nvPr/>
        </p:nvSpPr>
        <p:spPr>
          <a:xfrm>
            <a:off x="11254880" y="4059621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3" name="Google Shape;553;p35"/>
          <p:cNvSpPr/>
          <p:nvPr/>
        </p:nvSpPr>
        <p:spPr>
          <a:xfrm>
            <a:off x="11556233" y="4059621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4" name="Google Shape;554;p35"/>
          <p:cNvSpPr/>
          <p:nvPr/>
        </p:nvSpPr>
        <p:spPr>
          <a:xfrm>
            <a:off x="10851101" y="4161195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5" name="Google Shape;555;p35"/>
          <p:cNvSpPr/>
          <p:nvPr/>
        </p:nvSpPr>
        <p:spPr>
          <a:xfrm>
            <a:off x="11152932" y="4161195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6" name="Google Shape;556;p35"/>
          <p:cNvSpPr/>
          <p:nvPr/>
        </p:nvSpPr>
        <p:spPr>
          <a:xfrm>
            <a:off x="11454285" y="4161195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7" name="Google Shape;557;p35"/>
          <p:cNvSpPr/>
          <p:nvPr/>
        </p:nvSpPr>
        <p:spPr>
          <a:xfrm>
            <a:off x="11048365" y="3678958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35"/>
          <p:cNvSpPr/>
          <p:nvPr/>
        </p:nvSpPr>
        <p:spPr>
          <a:xfrm>
            <a:off x="11350196" y="3678958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9" name="Google Shape;559;p35"/>
          <p:cNvSpPr/>
          <p:nvPr/>
        </p:nvSpPr>
        <p:spPr>
          <a:xfrm>
            <a:off x="11651549" y="3678958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0" name="Google Shape;560;p35"/>
          <p:cNvSpPr/>
          <p:nvPr/>
        </p:nvSpPr>
        <p:spPr>
          <a:xfrm>
            <a:off x="10953050" y="3779134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1" name="Google Shape;561;p35"/>
          <p:cNvSpPr/>
          <p:nvPr/>
        </p:nvSpPr>
        <p:spPr>
          <a:xfrm>
            <a:off x="11254880" y="3779134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2" name="Google Shape;562;p35"/>
          <p:cNvSpPr/>
          <p:nvPr/>
        </p:nvSpPr>
        <p:spPr>
          <a:xfrm>
            <a:off x="11556233" y="3779134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3" name="Google Shape;563;p35"/>
          <p:cNvSpPr/>
          <p:nvPr/>
        </p:nvSpPr>
        <p:spPr>
          <a:xfrm>
            <a:off x="10851101" y="3880707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4" name="Google Shape;564;p35"/>
          <p:cNvSpPr/>
          <p:nvPr/>
        </p:nvSpPr>
        <p:spPr>
          <a:xfrm>
            <a:off x="11152932" y="3880707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5" name="Google Shape;565;p35"/>
          <p:cNvSpPr/>
          <p:nvPr/>
        </p:nvSpPr>
        <p:spPr>
          <a:xfrm>
            <a:off x="11454285" y="3880707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6" name="Google Shape;566;p35"/>
          <p:cNvSpPr/>
          <p:nvPr/>
        </p:nvSpPr>
        <p:spPr>
          <a:xfrm>
            <a:off x="11048365" y="3386789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7" name="Google Shape;567;p35"/>
          <p:cNvSpPr/>
          <p:nvPr/>
        </p:nvSpPr>
        <p:spPr>
          <a:xfrm>
            <a:off x="11350196" y="3386789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8" name="Google Shape;568;p35"/>
          <p:cNvSpPr/>
          <p:nvPr/>
        </p:nvSpPr>
        <p:spPr>
          <a:xfrm>
            <a:off x="11651549" y="3386789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9" name="Google Shape;569;p35"/>
          <p:cNvSpPr/>
          <p:nvPr/>
        </p:nvSpPr>
        <p:spPr>
          <a:xfrm>
            <a:off x="10953050" y="3486965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0" name="Google Shape;570;p35"/>
          <p:cNvSpPr/>
          <p:nvPr/>
        </p:nvSpPr>
        <p:spPr>
          <a:xfrm>
            <a:off x="11254880" y="3486965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1" name="Google Shape;571;p35"/>
          <p:cNvSpPr/>
          <p:nvPr/>
        </p:nvSpPr>
        <p:spPr>
          <a:xfrm>
            <a:off x="11556233" y="3486965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2" name="Google Shape;572;p35"/>
          <p:cNvSpPr/>
          <p:nvPr/>
        </p:nvSpPr>
        <p:spPr>
          <a:xfrm>
            <a:off x="10851101" y="3588538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3" name="Google Shape;573;p35"/>
          <p:cNvSpPr/>
          <p:nvPr/>
        </p:nvSpPr>
        <p:spPr>
          <a:xfrm>
            <a:off x="11152932" y="3588538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4" name="Google Shape;574;p35"/>
          <p:cNvSpPr/>
          <p:nvPr/>
        </p:nvSpPr>
        <p:spPr>
          <a:xfrm>
            <a:off x="11454285" y="3588538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5" name="Google Shape;575;p35"/>
          <p:cNvSpPr txBox="1"/>
          <p:nvPr/>
        </p:nvSpPr>
        <p:spPr>
          <a:xfrm>
            <a:off x="10935050" y="4733850"/>
            <a:ext cx="907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6" name="Google Shape;576;p35"/>
          <p:cNvSpPr txBox="1"/>
          <p:nvPr/>
        </p:nvSpPr>
        <p:spPr>
          <a:xfrm>
            <a:off x="7679025" y="1157025"/>
            <a:ext cx="2476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1 attention score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7" name="Google Shape;577;p35"/>
          <p:cNvSpPr txBox="1"/>
          <p:nvPr/>
        </p:nvSpPr>
        <p:spPr>
          <a:xfrm>
            <a:off x="7627650" y="3044788"/>
            <a:ext cx="2476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2 attention score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8" name="Google Shape;578;p35"/>
          <p:cNvSpPr txBox="1"/>
          <p:nvPr/>
        </p:nvSpPr>
        <p:spPr>
          <a:xfrm>
            <a:off x="7775500" y="6378625"/>
            <a:ext cx="2476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8 attention score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9" name="Google Shape;579;p35"/>
          <p:cNvSpPr txBox="1"/>
          <p:nvPr/>
        </p:nvSpPr>
        <p:spPr>
          <a:xfrm>
            <a:off x="111225" y="1863630"/>
            <a:ext cx="2027700" cy="1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Batch: 8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 : 27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(joint): 15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 : 512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0" name="Google Shape;580;p35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Proposed Idea</a:t>
            </a:r>
            <a:endParaRPr sz="4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475" y="1851876"/>
            <a:ext cx="11401027" cy="2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36"/>
          <p:cNvSpPr txBox="1"/>
          <p:nvPr/>
        </p:nvSpPr>
        <p:spPr>
          <a:xfrm>
            <a:off x="1650700" y="4886700"/>
            <a:ext cx="8565300" cy="16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Query와 Key의 차원을 축소하면서도 정보를 효율적으로 인코딩 할 수 있는 방법 탐구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축소된 차원을 유지하면서도 비선형 함수를 사용하여 복잡한 특징을 학습, 이를 통해 강조된 특징들 간의 새로운 관계를 학습할 기회를 제공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88" name="Google Shape;588;p36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New </a:t>
            </a:r>
            <a:r>
              <a:rPr lang="en-US" sz="4000"/>
              <a:t>Proposal</a:t>
            </a:r>
            <a:endParaRPr sz="4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7"/>
          <p:cNvSpPr/>
          <p:nvPr/>
        </p:nvSpPr>
        <p:spPr>
          <a:xfrm>
            <a:off x="651390" y="4205471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5" name="Google Shape;595;p37"/>
          <p:cNvSpPr/>
          <p:nvPr/>
        </p:nvSpPr>
        <p:spPr>
          <a:xfrm>
            <a:off x="953221" y="4205471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6" name="Google Shape;596;p37"/>
          <p:cNvSpPr/>
          <p:nvPr/>
        </p:nvSpPr>
        <p:spPr>
          <a:xfrm>
            <a:off x="1254574" y="4205471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7" name="Google Shape;597;p37"/>
          <p:cNvSpPr/>
          <p:nvPr/>
        </p:nvSpPr>
        <p:spPr>
          <a:xfrm>
            <a:off x="556075" y="4305646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8" name="Google Shape;598;p37"/>
          <p:cNvSpPr/>
          <p:nvPr/>
        </p:nvSpPr>
        <p:spPr>
          <a:xfrm>
            <a:off x="857905" y="4305646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9" name="Google Shape;599;p37"/>
          <p:cNvSpPr/>
          <p:nvPr/>
        </p:nvSpPr>
        <p:spPr>
          <a:xfrm>
            <a:off x="1159258" y="4305646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0" name="Google Shape;600;p37"/>
          <p:cNvSpPr/>
          <p:nvPr/>
        </p:nvSpPr>
        <p:spPr>
          <a:xfrm>
            <a:off x="454126" y="440722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1" name="Google Shape;601;p37"/>
          <p:cNvSpPr/>
          <p:nvPr/>
        </p:nvSpPr>
        <p:spPr>
          <a:xfrm>
            <a:off x="755957" y="440722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2" name="Google Shape;602;p37"/>
          <p:cNvSpPr/>
          <p:nvPr/>
        </p:nvSpPr>
        <p:spPr>
          <a:xfrm>
            <a:off x="1057310" y="440722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3" name="Google Shape;603;p37"/>
          <p:cNvSpPr/>
          <p:nvPr/>
        </p:nvSpPr>
        <p:spPr>
          <a:xfrm>
            <a:off x="651390" y="3924983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4" name="Google Shape;604;p37"/>
          <p:cNvSpPr/>
          <p:nvPr/>
        </p:nvSpPr>
        <p:spPr>
          <a:xfrm>
            <a:off x="953221" y="3924983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5" name="Google Shape;605;p37"/>
          <p:cNvSpPr/>
          <p:nvPr/>
        </p:nvSpPr>
        <p:spPr>
          <a:xfrm>
            <a:off x="1254574" y="3924983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6" name="Google Shape;606;p37"/>
          <p:cNvSpPr/>
          <p:nvPr/>
        </p:nvSpPr>
        <p:spPr>
          <a:xfrm>
            <a:off x="556075" y="4025159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7" name="Google Shape;607;p37"/>
          <p:cNvSpPr/>
          <p:nvPr/>
        </p:nvSpPr>
        <p:spPr>
          <a:xfrm>
            <a:off x="857905" y="4025159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8" name="Google Shape;608;p37"/>
          <p:cNvSpPr/>
          <p:nvPr/>
        </p:nvSpPr>
        <p:spPr>
          <a:xfrm>
            <a:off x="1159258" y="4025159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9" name="Google Shape;609;p37"/>
          <p:cNvSpPr/>
          <p:nvPr/>
        </p:nvSpPr>
        <p:spPr>
          <a:xfrm>
            <a:off x="454126" y="4126732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0" name="Google Shape;610;p37"/>
          <p:cNvSpPr/>
          <p:nvPr/>
        </p:nvSpPr>
        <p:spPr>
          <a:xfrm>
            <a:off x="755957" y="4126732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1" name="Google Shape;611;p37"/>
          <p:cNvSpPr/>
          <p:nvPr/>
        </p:nvSpPr>
        <p:spPr>
          <a:xfrm>
            <a:off x="1057310" y="4126732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2" name="Google Shape;612;p37"/>
          <p:cNvSpPr/>
          <p:nvPr/>
        </p:nvSpPr>
        <p:spPr>
          <a:xfrm>
            <a:off x="651390" y="3632814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3" name="Google Shape;613;p37"/>
          <p:cNvSpPr/>
          <p:nvPr/>
        </p:nvSpPr>
        <p:spPr>
          <a:xfrm>
            <a:off x="953221" y="3632814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4" name="Google Shape;614;p37"/>
          <p:cNvSpPr/>
          <p:nvPr/>
        </p:nvSpPr>
        <p:spPr>
          <a:xfrm>
            <a:off x="1254574" y="3632814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5" name="Google Shape;615;p37"/>
          <p:cNvSpPr/>
          <p:nvPr/>
        </p:nvSpPr>
        <p:spPr>
          <a:xfrm>
            <a:off x="556075" y="373299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6" name="Google Shape;616;p37"/>
          <p:cNvSpPr/>
          <p:nvPr/>
        </p:nvSpPr>
        <p:spPr>
          <a:xfrm>
            <a:off x="857905" y="373299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7" name="Google Shape;617;p37"/>
          <p:cNvSpPr/>
          <p:nvPr/>
        </p:nvSpPr>
        <p:spPr>
          <a:xfrm>
            <a:off x="1159258" y="373299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8" name="Google Shape;618;p37"/>
          <p:cNvSpPr/>
          <p:nvPr/>
        </p:nvSpPr>
        <p:spPr>
          <a:xfrm>
            <a:off x="454126" y="3834563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9" name="Google Shape;619;p37"/>
          <p:cNvSpPr/>
          <p:nvPr/>
        </p:nvSpPr>
        <p:spPr>
          <a:xfrm>
            <a:off x="755957" y="3834563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0" name="Google Shape;620;p37"/>
          <p:cNvSpPr/>
          <p:nvPr/>
        </p:nvSpPr>
        <p:spPr>
          <a:xfrm>
            <a:off x="1057310" y="3834563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21" name="Google Shape;621;p37"/>
          <p:cNvCxnSpPr/>
          <p:nvPr/>
        </p:nvCxnSpPr>
        <p:spPr>
          <a:xfrm>
            <a:off x="1788593" y="4178696"/>
            <a:ext cx="1187400" cy="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2" name="Google Shape;622;p37"/>
          <p:cNvCxnSpPr/>
          <p:nvPr/>
        </p:nvCxnSpPr>
        <p:spPr>
          <a:xfrm flipH="1" rot="10800000">
            <a:off x="2407336" y="2211233"/>
            <a:ext cx="10500" cy="388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37"/>
          <p:cNvCxnSpPr/>
          <p:nvPr/>
        </p:nvCxnSpPr>
        <p:spPr>
          <a:xfrm>
            <a:off x="2418040" y="2222031"/>
            <a:ext cx="5682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4" name="Google Shape;624;p37"/>
          <p:cNvCxnSpPr/>
          <p:nvPr/>
        </p:nvCxnSpPr>
        <p:spPr>
          <a:xfrm>
            <a:off x="2418040" y="6059768"/>
            <a:ext cx="5682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5" name="Google Shape;625;p37"/>
          <p:cNvSpPr/>
          <p:nvPr/>
        </p:nvSpPr>
        <p:spPr>
          <a:xfrm>
            <a:off x="4973960" y="2433331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Q</a:t>
            </a:r>
            <a:endParaRPr sz="1000"/>
          </a:p>
        </p:txBody>
      </p:sp>
      <p:sp>
        <p:nvSpPr>
          <p:cNvPr id="626" name="Google Shape;626;p37"/>
          <p:cNvSpPr/>
          <p:nvPr/>
        </p:nvSpPr>
        <p:spPr>
          <a:xfrm>
            <a:off x="4973960" y="1931040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K</a:t>
            </a:r>
            <a:endParaRPr sz="1000"/>
          </a:p>
        </p:txBody>
      </p:sp>
      <p:sp>
        <p:nvSpPr>
          <p:cNvPr id="627" name="Google Shape;627;p37"/>
          <p:cNvSpPr/>
          <p:nvPr/>
        </p:nvSpPr>
        <p:spPr>
          <a:xfrm>
            <a:off x="4973960" y="1428750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V</a:t>
            </a:r>
            <a:endParaRPr sz="1000"/>
          </a:p>
        </p:txBody>
      </p:sp>
      <p:sp>
        <p:nvSpPr>
          <p:cNvPr id="628" name="Google Shape;628;p37"/>
          <p:cNvSpPr/>
          <p:nvPr/>
        </p:nvSpPr>
        <p:spPr>
          <a:xfrm>
            <a:off x="3117830" y="2351458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9" name="Google Shape;629;p37"/>
          <p:cNvSpPr/>
          <p:nvPr/>
        </p:nvSpPr>
        <p:spPr>
          <a:xfrm>
            <a:off x="3419660" y="2351458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0" name="Google Shape;630;p37"/>
          <p:cNvSpPr/>
          <p:nvPr/>
        </p:nvSpPr>
        <p:spPr>
          <a:xfrm>
            <a:off x="3721013" y="2351458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1" name="Google Shape;631;p37"/>
          <p:cNvSpPr/>
          <p:nvPr/>
        </p:nvSpPr>
        <p:spPr>
          <a:xfrm>
            <a:off x="3118044" y="2030945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2" name="Google Shape;632;p37"/>
          <p:cNvSpPr/>
          <p:nvPr/>
        </p:nvSpPr>
        <p:spPr>
          <a:xfrm>
            <a:off x="3419875" y="2030945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3" name="Google Shape;633;p37"/>
          <p:cNvSpPr/>
          <p:nvPr/>
        </p:nvSpPr>
        <p:spPr>
          <a:xfrm>
            <a:off x="3721228" y="2030945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4" name="Google Shape;634;p37"/>
          <p:cNvSpPr/>
          <p:nvPr/>
        </p:nvSpPr>
        <p:spPr>
          <a:xfrm>
            <a:off x="3117714" y="172020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5" name="Google Shape;635;p37"/>
          <p:cNvSpPr/>
          <p:nvPr/>
        </p:nvSpPr>
        <p:spPr>
          <a:xfrm>
            <a:off x="3419545" y="172020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6" name="Google Shape;636;p37"/>
          <p:cNvSpPr/>
          <p:nvPr/>
        </p:nvSpPr>
        <p:spPr>
          <a:xfrm>
            <a:off x="3720898" y="172020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7" name="Google Shape;637;p37"/>
          <p:cNvSpPr/>
          <p:nvPr/>
        </p:nvSpPr>
        <p:spPr>
          <a:xfrm>
            <a:off x="3102169" y="4258652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8" name="Google Shape;638;p37"/>
          <p:cNvSpPr/>
          <p:nvPr/>
        </p:nvSpPr>
        <p:spPr>
          <a:xfrm>
            <a:off x="3404000" y="4258652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9" name="Google Shape;639;p37"/>
          <p:cNvSpPr/>
          <p:nvPr/>
        </p:nvSpPr>
        <p:spPr>
          <a:xfrm>
            <a:off x="3705353" y="4258652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0" name="Google Shape;640;p37"/>
          <p:cNvSpPr/>
          <p:nvPr/>
        </p:nvSpPr>
        <p:spPr>
          <a:xfrm>
            <a:off x="3102384" y="393814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1" name="Google Shape;641;p37"/>
          <p:cNvSpPr/>
          <p:nvPr/>
        </p:nvSpPr>
        <p:spPr>
          <a:xfrm>
            <a:off x="3404215" y="393814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2" name="Google Shape;642;p37"/>
          <p:cNvSpPr/>
          <p:nvPr/>
        </p:nvSpPr>
        <p:spPr>
          <a:xfrm>
            <a:off x="3705568" y="393814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3" name="Google Shape;643;p37"/>
          <p:cNvSpPr/>
          <p:nvPr/>
        </p:nvSpPr>
        <p:spPr>
          <a:xfrm>
            <a:off x="3102054" y="3627394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4" name="Google Shape;644;p37"/>
          <p:cNvSpPr/>
          <p:nvPr/>
        </p:nvSpPr>
        <p:spPr>
          <a:xfrm>
            <a:off x="3403885" y="3627394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5" name="Google Shape;645;p37"/>
          <p:cNvSpPr/>
          <p:nvPr/>
        </p:nvSpPr>
        <p:spPr>
          <a:xfrm>
            <a:off x="3705238" y="3627394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6" name="Google Shape;646;p37"/>
          <p:cNvSpPr/>
          <p:nvPr/>
        </p:nvSpPr>
        <p:spPr>
          <a:xfrm>
            <a:off x="3102235" y="6013159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7" name="Google Shape;647;p37"/>
          <p:cNvSpPr/>
          <p:nvPr/>
        </p:nvSpPr>
        <p:spPr>
          <a:xfrm>
            <a:off x="3404066" y="6013159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8" name="Google Shape;648;p37"/>
          <p:cNvSpPr/>
          <p:nvPr/>
        </p:nvSpPr>
        <p:spPr>
          <a:xfrm>
            <a:off x="3705419" y="6013159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9" name="Google Shape;649;p37"/>
          <p:cNvSpPr/>
          <p:nvPr/>
        </p:nvSpPr>
        <p:spPr>
          <a:xfrm>
            <a:off x="3102450" y="5692646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0" name="Google Shape;650;p37"/>
          <p:cNvSpPr/>
          <p:nvPr/>
        </p:nvSpPr>
        <p:spPr>
          <a:xfrm>
            <a:off x="3404281" y="5692646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1" name="Google Shape;651;p37"/>
          <p:cNvSpPr/>
          <p:nvPr/>
        </p:nvSpPr>
        <p:spPr>
          <a:xfrm>
            <a:off x="3705634" y="5692646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2" name="Google Shape;652;p37"/>
          <p:cNvSpPr/>
          <p:nvPr/>
        </p:nvSpPr>
        <p:spPr>
          <a:xfrm>
            <a:off x="3102120" y="5381901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3" name="Google Shape;653;p37"/>
          <p:cNvSpPr/>
          <p:nvPr/>
        </p:nvSpPr>
        <p:spPr>
          <a:xfrm>
            <a:off x="3403951" y="5381901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4" name="Google Shape;654;p37"/>
          <p:cNvSpPr/>
          <p:nvPr/>
        </p:nvSpPr>
        <p:spPr>
          <a:xfrm>
            <a:off x="3705304" y="5381901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55" name="Google Shape;655;p37"/>
          <p:cNvCxnSpPr/>
          <p:nvPr/>
        </p:nvCxnSpPr>
        <p:spPr>
          <a:xfrm>
            <a:off x="4226033" y="2247608"/>
            <a:ext cx="5637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6" name="Google Shape;656;p37"/>
          <p:cNvCxnSpPr/>
          <p:nvPr/>
        </p:nvCxnSpPr>
        <p:spPr>
          <a:xfrm flipH="1" rot="10800000">
            <a:off x="4519578" y="1733923"/>
            <a:ext cx="5100" cy="101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7" name="Google Shape;657;p37"/>
          <p:cNvCxnSpPr/>
          <p:nvPr/>
        </p:nvCxnSpPr>
        <p:spPr>
          <a:xfrm>
            <a:off x="4524656" y="1737071"/>
            <a:ext cx="2697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8" name="Google Shape;658;p37"/>
          <p:cNvCxnSpPr/>
          <p:nvPr/>
        </p:nvCxnSpPr>
        <p:spPr>
          <a:xfrm>
            <a:off x="4524656" y="2738421"/>
            <a:ext cx="2697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9" name="Google Shape;659;p37"/>
          <p:cNvCxnSpPr>
            <a:stCxn id="660" idx="6"/>
          </p:cNvCxnSpPr>
          <p:nvPr/>
        </p:nvCxnSpPr>
        <p:spPr>
          <a:xfrm flipH="1" rot="10800000">
            <a:off x="4385700" y="4185900"/>
            <a:ext cx="3702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1" name="Google Shape;661;p37"/>
          <p:cNvCxnSpPr/>
          <p:nvPr/>
        </p:nvCxnSpPr>
        <p:spPr>
          <a:xfrm flipH="1" rot="10800000">
            <a:off x="4488257" y="3676905"/>
            <a:ext cx="5100" cy="101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37"/>
          <p:cNvCxnSpPr/>
          <p:nvPr/>
        </p:nvCxnSpPr>
        <p:spPr>
          <a:xfrm>
            <a:off x="4493336" y="3680054"/>
            <a:ext cx="2697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3" name="Google Shape;663;p37"/>
          <p:cNvCxnSpPr/>
          <p:nvPr/>
        </p:nvCxnSpPr>
        <p:spPr>
          <a:xfrm>
            <a:off x="4493336" y="4681404"/>
            <a:ext cx="2697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4" name="Google Shape;664;p37"/>
          <p:cNvCxnSpPr/>
          <p:nvPr/>
        </p:nvCxnSpPr>
        <p:spPr>
          <a:xfrm flipH="1" rot="10800000">
            <a:off x="4488390" y="5395624"/>
            <a:ext cx="5100" cy="101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37"/>
          <p:cNvCxnSpPr/>
          <p:nvPr/>
        </p:nvCxnSpPr>
        <p:spPr>
          <a:xfrm>
            <a:off x="4493468" y="5398772"/>
            <a:ext cx="2697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6" name="Google Shape;666;p37"/>
          <p:cNvCxnSpPr/>
          <p:nvPr/>
        </p:nvCxnSpPr>
        <p:spPr>
          <a:xfrm>
            <a:off x="4493468" y="6400122"/>
            <a:ext cx="2697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7" name="Google Shape;667;p37"/>
          <p:cNvSpPr/>
          <p:nvPr/>
        </p:nvSpPr>
        <p:spPr>
          <a:xfrm rot="5400000">
            <a:off x="6522425" y="1836700"/>
            <a:ext cx="1584900" cy="67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attention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8" name="Google Shape;668;p37"/>
          <p:cNvSpPr/>
          <p:nvPr/>
        </p:nvSpPr>
        <p:spPr>
          <a:xfrm rot="-5400000">
            <a:off x="5865700" y="2123350"/>
            <a:ext cx="1034400" cy="649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Nonlinear Feature Augmentation</a:t>
            </a:r>
            <a:endParaRPr sz="1000"/>
          </a:p>
        </p:txBody>
      </p:sp>
      <p:sp>
        <p:nvSpPr>
          <p:cNvPr id="669" name="Google Shape;669;p37"/>
          <p:cNvSpPr/>
          <p:nvPr/>
        </p:nvSpPr>
        <p:spPr>
          <a:xfrm rot="5400000">
            <a:off x="6516925" y="3751075"/>
            <a:ext cx="1584900" cy="67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attention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0" name="Google Shape;670;p37"/>
          <p:cNvSpPr/>
          <p:nvPr/>
        </p:nvSpPr>
        <p:spPr>
          <a:xfrm rot="5400000">
            <a:off x="6561575" y="5564825"/>
            <a:ext cx="1584900" cy="67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attention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1" name="Google Shape;671;p37"/>
          <p:cNvSpPr/>
          <p:nvPr/>
        </p:nvSpPr>
        <p:spPr>
          <a:xfrm>
            <a:off x="4950185" y="4487593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Q</a:t>
            </a:r>
            <a:endParaRPr sz="1000"/>
          </a:p>
        </p:txBody>
      </p:sp>
      <p:sp>
        <p:nvSpPr>
          <p:cNvPr id="672" name="Google Shape;672;p37"/>
          <p:cNvSpPr/>
          <p:nvPr/>
        </p:nvSpPr>
        <p:spPr>
          <a:xfrm>
            <a:off x="4950185" y="3985303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K</a:t>
            </a:r>
            <a:endParaRPr sz="1000"/>
          </a:p>
        </p:txBody>
      </p:sp>
      <p:sp>
        <p:nvSpPr>
          <p:cNvPr id="673" name="Google Shape;673;p37"/>
          <p:cNvSpPr/>
          <p:nvPr/>
        </p:nvSpPr>
        <p:spPr>
          <a:xfrm>
            <a:off x="4950185" y="3483012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V</a:t>
            </a:r>
            <a:endParaRPr sz="1000"/>
          </a:p>
        </p:txBody>
      </p:sp>
      <p:sp>
        <p:nvSpPr>
          <p:cNvPr id="674" name="Google Shape;674;p37"/>
          <p:cNvSpPr/>
          <p:nvPr/>
        </p:nvSpPr>
        <p:spPr>
          <a:xfrm>
            <a:off x="4973960" y="6215543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Q</a:t>
            </a:r>
            <a:endParaRPr sz="1000"/>
          </a:p>
        </p:txBody>
      </p:sp>
      <p:sp>
        <p:nvSpPr>
          <p:cNvPr id="675" name="Google Shape;675;p37"/>
          <p:cNvSpPr/>
          <p:nvPr/>
        </p:nvSpPr>
        <p:spPr>
          <a:xfrm>
            <a:off x="4973960" y="5713253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K</a:t>
            </a:r>
            <a:endParaRPr sz="1000"/>
          </a:p>
        </p:txBody>
      </p:sp>
      <p:sp>
        <p:nvSpPr>
          <p:cNvPr id="676" name="Google Shape;676;p37"/>
          <p:cNvSpPr/>
          <p:nvPr/>
        </p:nvSpPr>
        <p:spPr>
          <a:xfrm>
            <a:off x="4973960" y="5210962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V</a:t>
            </a:r>
            <a:endParaRPr sz="1000"/>
          </a:p>
        </p:txBody>
      </p:sp>
      <p:sp>
        <p:nvSpPr>
          <p:cNvPr id="677" name="Google Shape;677;p37"/>
          <p:cNvSpPr/>
          <p:nvPr/>
        </p:nvSpPr>
        <p:spPr>
          <a:xfrm rot="-5400000">
            <a:off x="5860200" y="4011825"/>
            <a:ext cx="1034400" cy="649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Nonlinear Feature Augmentation</a:t>
            </a:r>
            <a:endParaRPr sz="1000"/>
          </a:p>
        </p:txBody>
      </p:sp>
      <p:sp>
        <p:nvSpPr>
          <p:cNvPr id="678" name="Google Shape;678;p37"/>
          <p:cNvSpPr/>
          <p:nvPr/>
        </p:nvSpPr>
        <p:spPr>
          <a:xfrm rot="-5400000">
            <a:off x="5865688" y="5832525"/>
            <a:ext cx="1034400" cy="649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Nonlinear Feature Augmentation</a:t>
            </a:r>
            <a:endParaRPr sz="1000"/>
          </a:p>
        </p:txBody>
      </p:sp>
      <p:cxnSp>
        <p:nvCxnSpPr>
          <p:cNvPr id="679" name="Google Shape;679;p37"/>
          <p:cNvCxnSpPr/>
          <p:nvPr/>
        </p:nvCxnSpPr>
        <p:spPr>
          <a:xfrm flipH="1" rot="10800000">
            <a:off x="5724100" y="2128425"/>
            <a:ext cx="3363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0" name="Google Shape;680;p37"/>
          <p:cNvCxnSpPr/>
          <p:nvPr/>
        </p:nvCxnSpPr>
        <p:spPr>
          <a:xfrm flipH="1" rot="10800000">
            <a:off x="5711125" y="2630275"/>
            <a:ext cx="3363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1" name="Google Shape;681;p37"/>
          <p:cNvCxnSpPr/>
          <p:nvPr/>
        </p:nvCxnSpPr>
        <p:spPr>
          <a:xfrm flipH="1" rot="10800000">
            <a:off x="6708775" y="2128525"/>
            <a:ext cx="2631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2" name="Google Shape;682;p37"/>
          <p:cNvCxnSpPr/>
          <p:nvPr/>
        </p:nvCxnSpPr>
        <p:spPr>
          <a:xfrm flipH="1" rot="10800000">
            <a:off x="6704425" y="2630400"/>
            <a:ext cx="2673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3" name="Google Shape;683;p37"/>
          <p:cNvCxnSpPr/>
          <p:nvPr/>
        </p:nvCxnSpPr>
        <p:spPr>
          <a:xfrm flipH="1" rot="10800000">
            <a:off x="5711125" y="1610975"/>
            <a:ext cx="12657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4" name="Google Shape;684;p37"/>
          <p:cNvCxnSpPr/>
          <p:nvPr/>
        </p:nvCxnSpPr>
        <p:spPr>
          <a:xfrm flipH="1" rot="10800000">
            <a:off x="5704375" y="4198488"/>
            <a:ext cx="3363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5" name="Google Shape;685;p37"/>
          <p:cNvCxnSpPr/>
          <p:nvPr/>
        </p:nvCxnSpPr>
        <p:spPr>
          <a:xfrm flipH="1" rot="10800000">
            <a:off x="5691400" y="4700338"/>
            <a:ext cx="3363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6" name="Google Shape;686;p37"/>
          <p:cNvCxnSpPr/>
          <p:nvPr/>
        </p:nvCxnSpPr>
        <p:spPr>
          <a:xfrm flipH="1" rot="10800000">
            <a:off x="6689050" y="4198588"/>
            <a:ext cx="2631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7" name="Google Shape;687;p37"/>
          <p:cNvCxnSpPr/>
          <p:nvPr/>
        </p:nvCxnSpPr>
        <p:spPr>
          <a:xfrm flipH="1" rot="10800000">
            <a:off x="6684700" y="4700463"/>
            <a:ext cx="2673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8" name="Google Shape;688;p37"/>
          <p:cNvCxnSpPr/>
          <p:nvPr/>
        </p:nvCxnSpPr>
        <p:spPr>
          <a:xfrm flipH="1" rot="10800000">
            <a:off x="5691400" y="3681038"/>
            <a:ext cx="12657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9" name="Google Shape;689;p37"/>
          <p:cNvCxnSpPr/>
          <p:nvPr/>
        </p:nvCxnSpPr>
        <p:spPr>
          <a:xfrm flipH="1" rot="10800000">
            <a:off x="5738588" y="5907963"/>
            <a:ext cx="3363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0" name="Google Shape;690;p37"/>
          <p:cNvCxnSpPr/>
          <p:nvPr/>
        </p:nvCxnSpPr>
        <p:spPr>
          <a:xfrm flipH="1" rot="10800000">
            <a:off x="5725613" y="6409813"/>
            <a:ext cx="3363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1" name="Google Shape;691;p37"/>
          <p:cNvCxnSpPr/>
          <p:nvPr/>
        </p:nvCxnSpPr>
        <p:spPr>
          <a:xfrm flipH="1" rot="10800000">
            <a:off x="6723263" y="5908063"/>
            <a:ext cx="2631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2" name="Google Shape;692;p37"/>
          <p:cNvCxnSpPr/>
          <p:nvPr/>
        </p:nvCxnSpPr>
        <p:spPr>
          <a:xfrm flipH="1" rot="10800000">
            <a:off x="6718913" y="6409938"/>
            <a:ext cx="2673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3" name="Google Shape;693;p37"/>
          <p:cNvCxnSpPr/>
          <p:nvPr/>
        </p:nvCxnSpPr>
        <p:spPr>
          <a:xfrm flipH="1" rot="10800000">
            <a:off x="5725613" y="5390513"/>
            <a:ext cx="12657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4" name="Google Shape;694;p37"/>
          <p:cNvSpPr/>
          <p:nvPr/>
        </p:nvSpPr>
        <p:spPr>
          <a:xfrm>
            <a:off x="8411230" y="2243733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5" name="Google Shape;695;p37"/>
          <p:cNvSpPr/>
          <p:nvPr/>
        </p:nvSpPr>
        <p:spPr>
          <a:xfrm>
            <a:off x="8713060" y="2243733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6" name="Google Shape;696;p37"/>
          <p:cNvSpPr/>
          <p:nvPr/>
        </p:nvSpPr>
        <p:spPr>
          <a:xfrm>
            <a:off x="9014413" y="2243733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7" name="Google Shape;697;p37"/>
          <p:cNvSpPr/>
          <p:nvPr/>
        </p:nvSpPr>
        <p:spPr>
          <a:xfrm>
            <a:off x="8411444" y="1923220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8" name="Google Shape;698;p37"/>
          <p:cNvSpPr/>
          <p:nvPr/>
        </p:nvSpPr>
        <p:spPr>
          <a:xfrm>
            <a:off x="8713275" y="1923220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9" name="Google Shape;699;p37"/>
          <p:cNvSpPr/>
          <p:nvPr/>
        </p:nvSpPr>
        <p:spPr>
          <a:xfrm>
            <a:off x="9014628" y="1923220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0" name="Google Shape;700;p37"/>
          <p:cNvSpPr/>
          <p:nvPr/>
        </p:nvSpPr>
        <p:spPr>
          <a:xfrm>
            <a:off x="8411114" y="1612475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1" name="Google Shape;701;p37"/>
          <p:cNvSpPr/>
          <p:nvPr/>
        </p:nvSpPr>
        <p:spPr>
          <a:xfrm>
            <a:off x="8712945" y="1612475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2" name="Google Shape;702;p37"/>
          <p:cNvSpPr/>
          <p:nvPr/>
        </p:nvSpPr>
        <p:spPr>
          <a:xfrm>
            <a:off x="9014298" y="1612475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3" name="Google Shape;703;p37"/>
          <p:cNvSpPr/>
          <p:nvPr/>
        </p:nvSpPr>
        <p:spPr>
          <a:xfrm>
            <a:off x="8395569" y="4150927"/>
            <a:ext cx="408000" cy="420000"/>
          </a:xfrm>
          <a:prstGeom prst="cube">
            <a:avLst>
              <a:gd fmla="val 25000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4" name="Google Shape;704;p37"/>
          <p:cNvSpPr/>
          <p:nvPr/>
        </p:nvSpPr>
        <p:spPr>
          <a:xfrm>
            <a:off x="8697400" y="4150927"/>
            <a:ext cx="408000" cy="420000"/>
          </a:xfrm>
          <a:prstGeom prst="cube">
            <a:avLst>
              <a:gd fmla="val 25000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5" name="Google Shape;705;p37"/>
          <p:cNvSpPr/>
          <p:nvPr/>
        </p:nvSpPr>
        <p:spPr>
          <a:xfrm>
            <a:off x="8998753" y="4150927"/>
            <a:ext cx="408000" cy="420000"/>
          </a:xfrm>
          <a:prstGeom prst="cube">
            <a:avLst>
              <a:gd fmla="val 25000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6" name="Google Shape;706;p37"/>
          <p:cNvSpPr/>
          <p:nvPr/>
        </p:nvSpPr>
        <p:spPr>
          <a:xfrm>
            <a:off x="8395784" y="3830415"/>
            <a:ext cx="408000" cy="420000"/>
          </a:xfrm>
          <a:prstGeom prst="cube">
            <a:avLst>
              <a:gd fmla="val 25000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7" name="Google Shape;707;p37"/>
          <p:cNvSpPr/>
          <p:nvPr/>
        </p:nvSpPr>
        <p:spPr>
          <a:xfrm>
            <a:off x="8697615" y="3830415"/>
            <a:ext cx="408000" cy="420000"/>
          </a:xfrm>
          <a:prstGeom prst="cube">
            <a:avLst>
              <a:gd fmla="val 25000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8" name="Google Shape;708;p37"/>
          <p:cNvSpPr/>
          <p:nvPr/>
        </p:nvSpPr>
        <p:spPr>
          <a:xfrm>
            <a:off x="8998968" y="3830415"/>
            <a:ext cx="408000" cy="420000"/>
          </a:xfrm>
          <a:prstGeom prst="cube">
            <a:avLst>
              <a:gd fmla="val 25000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9" name="Google Shape;709;p37"/>
          <p:cNvSpPr/>
          <p:nvPr/>
        </p:nvSpPr>
        <p:spPr>
          <a:xfrm>
            <a:off x="8395454" y="3519669"/>
            <a:ext cx="408000" cy="420000"/>
          </a:xfrm>
          <a:prstGeom prst="cube">
            <a:avLst>
              <a:gd fmla="val 25000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0" name="Google Shape;710;p37"/>
          <p:cNvSpPr/>
          <p:nvPr/>
        </p:nvSpPr>
        <p:spPr>
          <a:xfrm>
            <a:off x="8697285" y="3519669"/>
            <a:ext cx="408000" cy="420000"/>
          </a:xfrm>
          <a:prstGeom prst="cube">
            <a:avLst>
              <a:gd fmla="val 25000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1" name="Google Shape;711;p37"/>
          <p:cNvSpPr/>
          <p:nvPr/>
        </p:nvSpPr>
        <p:spPr>
          <a:xfrm>
            <a:off x="8998638" y="3519669"/>
            <a:ext cx="408000" cy="420000"/>
          </a:xfrm>
          <a:prstGeom prst="cube">
            <a:avLst>
              <a:gd fmla="val 25000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2" name="Google Shape;712;p37"/>
          <p:cNvSpPr/>
          <p:nvPr/>
        </p:nvSpPr>
        <p:spPr>
          <a:xfrm>
            <a:off x="8395635" y="5905434"/>
            <a:ext cx="408000" cy="420000"/>
          </a:xfrm>
          <a:prstGeom prst="cube">
            <a:avLst>
              <a:gd fmla="val 2500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3" name="Google Shape;713;p37"/>
          <p:cNvSpPr/>
          <p:nvPr/>
        </p:nvSpPr>
        <p:spPr>
          <a:xfrm>
            <a:off x="8697466" y="5905434"/>
            <a:ext cx="408000" cy="420000"/>
          </a:xfrm>
          <a:prstGeom prst="cube">
            <a:avLst>
              <a:gd fmla="val 2500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4" name="Google Shape;714;p37"/>
          <p:cNvSpPr/>
          <p:nvPr/>
        </p:nvSpPr>
        <p:spPr>
          <a:xfrm>
            <a:off x="8998819" y="5905434"/>
            <a:ext cx="408000" cy="420000"/>
          </a:xfrm>
          <a:prstGeom prst="cube">
            <a:avLst>
              <a:gd fmla="val 2500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5" name="Google Shape;715;p37"/>
          <p:cNvSpPr/>
          <p:nvPr/>
        </p:nvSpPr>
        <p:spPr>
          <a:xfrm>
            <a:off x="8395850" y="5584921"/>
            <a:ext cx="408000" cy="420000"/>
          </a:xfrm>
          <a:prstGeom prst="cube">
            <a:avLst>
              <a:gd fmla="val 2500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6" name="Google Shape;716;p37"/>
          <p:cNvSpPr/>
          <p:nvPr/>
        </p:nvSpPr>
        <p:spPr>
          <a:xfrm>
            <a:off x="8697681" y="5584921"/>
            <a:ext cx="408000" cy="420000"/>
          </a:xfrm>
          <a:prstGeom prst="cube">
            <a:avLst>
              <a:gd fmla="val 2500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" name="Google Shape;717;p37"/>
          <p:cNvSpPr/>
          <p:nvPr/>
        </p:nvSpPr>
        <p:spPr>
          <a:xfrm>
            <a:off x="8999034" y="5584921"/>
            <a:ext cx="408000" cy="420000"/>
          </a:xfrm>
          <a:prstGeom prst="cube">
            <a:avLst>
              <a:gd fmla="val 2500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8" name="Google Shape;718;p37"/>
          <p:cNvSpPr/>
          <p:nvPr/>
        </p:nvSpPr>
        <p:spPr>
          <a:xfrm>
            <a:off x="8395520" y="5274176"/>
            <a:ext cx="408000" cy="420000"/>
          </a:xfrm>
          <a:prstGeom prst="cube">
            <a:avLst>
              <a:gd fmla="val 2500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9" name="Google Shape;719;p37"/>
          <p:cNvSpPr/>
          <p:nvPr/>
        </p:nvSpPr>
        <p:spPr>
          <a:xfrm>
            <a:off x="8697351" y="5274176"/>
            <a:ext cx="408000" cy="420000"/>
          </a:xfrm>
          <a:prstGeom prst="cube">
            <a:avLst>
              <a:gd fmla="val 2500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0" name="Google Shape;720;p37"/>
          <p:cNvSpPr/>
          <p:nvPr/>
        </p:nvSpPr>
        <p:spPr>
          <a:xfrm>
            <a:off x="8998704" y="5274176"/>
            <a:ext cx="408000" cy="420000"/>
          </a:xfrm>
          <a:prstGeom prst="cube">
            <a:avLst>
              <a:gd fmla="val 2500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21" name="Google Shape;72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3359849" y="4690588"/>
            <a:ext cx="3238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37"/>
          <p:cNvSpPr txBox="1"/>
          <p:nvPr/>
        </p:nvSpPr>
        <p:spPr>
          <a:xfrm>
            <a:off x="214100" y="4979875"/>
            <a:ext cx="20277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Input.shape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3" name="Google Shape;723;p37"/>
          <p:cNvSpPr txBox="1"/>
          <p:nvPr/>
        </p:nvSpPr>
        <p:spPr>
          <a:xfrm>
            <a:off x="3211275" y="1227200"/>
            <a:ext cx="949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1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4" name="Google Shape;724;p37"/>
          <p:cNvSpPr txBox="1"/>
          <p:nvPr/>
        </p:nvSpPr>
        <p:spPr>
          <a:xfrm>
            <a:off x="3133125" y="3106100"/>
            <a:ext cx="949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2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5" name="Google Shape;725;p37"/>
          <p:cNvSpPr txBox="1"/>
          <p:nvPr/>
        </p:nvSpPr>
        <p:spPr>
          <a:xfrm>
            <a:off x="3133125" y="4889900"/>
            <a:ext cx="949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8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6" name="Google Shape;726;p37"/>
          <p:cNvSpPr/>
          <p:nvPr/>
        </p:nvSpPr>
        <p:spPr>
          <a:xfrm>
            <a:off x="4271683" y="4144320"/>
            <a:ext cx="90900" cy="85800"/>
          </a:xfrm>
          <a:prstGeom prst="mathPlus">
            <a:avLst>
              <a:gd fmla="val 235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0" name="Google Shape;660;p37"/>
          <p:cNvSpPr/>
          <p:nvPr/>
        </p:nvSpPr>
        <p:spPr>
          <a:xfrm>
            <a:off x="4248600" y="4118850"/>
            <a:ext cx="137100" cy="137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27" name="Google Shape;727;p37"/>
          <p:cNvCxnSpPr/>
          <p:nvPr/>
        </p:nvCxnSpPr>
        <p:spPr>
          <a:xfrm rot="10800000">
            <a:off x="4158400" y="4186325"/>
            <a:ext cx="89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37"/>
          <p:cNvCxnSpPr/>
          <p:nvPr/>
        </p:nvCxnSpPr>
        <p:spPr>
          <a:xfrm flipH="1" rot="10800000">
            <a:off x="4388075" y="5934875"/>
            <a:ext cx="3702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9" name="Google Shape;729;p37"/>
          <p:cNvCxnSpPr/>
          <p:nvPr/>
        </p:nvCxnSpPr>
        <p:spPr>
          <a:xfrm rot="10800000">
            <a:off x="4160775" y="5935300"/>
            <a:ext cx="89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0" name="Google Shape;730;p37"/>
          <p:cNvSpPr/>
          <p:nvPr/>
        </p:nvSpPr>
        <p:spPr>
          <a:xfrm>
            <a:off x="4271658" y="5892545"/>
            <a:ext cx="90900" cy="85800"/>
          </a:xfrm>
          <a:prstGeom prst="mathPlus">
            <a:avLst>
              <a:gd fmla="val 235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1" name="Google Shape;731;p37"/>
          <p:cNvSpPr/>
          <p:nvPr/>
        </p:nvSpPr>
        <p:spPr>
          <a:xfrm>
            <a:off x="4248575" y="5867075"/>
            <a:ext cx="137100" cy="137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32" name="Google Shape;732;p37"/>
          <p:cNvCxnSpPr>
            <a:stCxn id="695" idx="3"/>
          </p:cNvCxnSpPr>
          <p:nvPr/>
        </p:nvCxnSpPr>
        <p:spPr>
          <a:xfrm flipH="1">
            <a:off x="8865760" y="2663733"/>
            <a:ext cx="300" cy="4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" name="Google Shape;733;p37"/>
          <p:cNvCxnSpPr/>
          <p:nvPr/>
        </p:nvCxnSpPr>
        <p:spPr>
          <a:xfrm flipH="1">
            <a:off x="4313900" y="3093150"/>
            <a:ext cx="4555500" cy="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37"/>
          <p:cNvCxnSpPr/>
          <p:nvPr/>
        </p:nvCxnSpPr>
        <p:spPr>
          <a:xfrm>
            <a:off x="4317000" y="3096025"/>
            <a:ext cx="300" cy="99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5" name="Google Shape;735;p37"/>
          <p:cNvCxnSpPr>
            <a:stCxn id="704" idx="3"/>
          </p:cNvCxnSpPr>
          <p:nvPr/>
        </p:nvCxnSpPr>
        <p:spPr>
          <a:xfrm flipH="1">
            <a:off x="8848300" y="4570927"/>
            <a:ext cx="2100" cy="48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37"/>
          <p:cNvCxnSpPr/>
          <p:nvPr/>
        </p:nvCxnSpPr>
        <p:spPr>
          <a:xfrm rot="10800000">
            <a:off x="4303850" y="5051175"/>
            <a:ext cx="4557300" cy="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" name="Google Shape;737;p37"/>
          <p:cNvCxnSpPr/>
          <p:nvPr/>
        </p:nvCxnSpPr>
        <p:spPr>
          <a:xfrm>
            <a:off x="4311450" y="5055400"/>
            <a:ext cx="900" cy="80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8" name="Google Shape;738;p37"/>
          <p:cNvCxnSpPr>
            <a:stCxn id="667" idx="0"/>
          </p:cNvCxnSpPr>
          <p:nvPr/>
        </p:nvCxnSpPr>
        <p:spPr>
          <a:xfrm>
            <a:off x="7652525" y="2174350"/>
            <a:ext cx="5661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9" name="Google Shape;739;p37"/>
          <p:cNvCxnSpPr/>
          <p:nvPr/>
        </p:nvCxnSpPr>
        <p:spPr>
          <a:xfrm>
            <a:off x="7652525" y="4103238"/>
            <a:ext cx="5661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0" name="Google Shape;740;p37"/>
          <p:cNvCxnSpPr/>
          <p:nvPr/>
        </p:nvCxnSpPr>
        <p:spPr>
          <a:xfrm>
            <a:off x="7691675" y="5950125"/>
            <a:ext cx="5661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1" name="Google Shape;741;p37"/>
          <p:cNvSpPr/>
          <p:nvPr/>
        </p:nvSpPr>
        <p:spPr>
          <a:xfrm rot="-5400000">
            <a:off x="8148775" y="3712950"/>
            <a:ext cx="4347900" cy="542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Concat &amp; Projection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42" name="Google Shape;742;p37"/>
          <p:cNvCxnSpPr/>
          <p:nvPr/>
        </p:nvCxnSpPr>
        <p:spPr>
          <a:xfrm>
            <a:off x="9422300" y="2054663"/>
            <a:ext cx="5661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3" name="Google Shape;743;p37"/>
          <p:cNvCxnSpPr/>
          <p:nvPr/>
        </p:nvCxnSpPr>
        <p:spPr>
          <a:xfrm>
            <a:off x="9422300" y="3983550"/>
            <a:ext cx="5661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4" name="Google Shape;744;p37"/>
          <p:cNvCxnSpPr/>
          <p:nvPr/>
        </p:nvCxnSpPr>
        <p:spPr>
          <a:xfrm>
            <a:off x="9461450" y="5830438"/>
            <a:ext cx="5661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5" name="Google Shape;745;p37"/>
          <p:cNvSpPr/>
          <p:nvPr/>
        </p:nvSpPr>
        <p:spPr>
          <a:xfrm>
            <a:off x="11048365" y="3959446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6" name="Google Shape;746;p37"/>
          <p:cNvSpPr/>
          <p:nvPr/>
        </p:nvSpPr>
        <p:spPr>
          <a:xfrm>
            <a:off x="11350196" y="3959446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7" name="Google Shape;747;p37"/>
          <p:cNvSpPr/>
          <p:nvPr/>
        </p:nvSpPr>
        <p:spPr>
          <a:xfrm>
            <a:off x="11651549" y="3959446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8" name="Google Shape;748;p37"/>
          <p:cNvSpPr/>
          <p:nvPr/>
        </p:nvSpPr>
        <p:spPr>
          <a:xfrm>
            <a:off x="10953050" y="4059621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9" name="Google Shape;749;p37"/>
          <p:cNvSpPr/>
          <p:nvPr/>
        </p:nvSpPr>
        <p:spPr>
          <a:xfrm>
            <a:off x="11254880" y="4059621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0" name="Google Shape;750;p37"/>
          <p:cNvSpPr/>
          <p:nvPr/>
        </p:nvSpPr>
        <p:spPr>
          <a:xfrm>
            <a:off x="11556233" y="4059621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1" name="Google Shape;751;p37"/>
          <p:cNvSpPr/>
          <p:nvPr/>
        </p:nvSpPr>
        <p:spPr>
          <a:xfrm>
            <a:off x="10851101" y="4161195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2" name="Google Shape;752;p37"/>
          <p:cNvSpPr/>
          <p:nvPr/>
        </p:nvSpPr>
        <p:spPr>
          <a:xfrm>
            <a:off x="11152932" y="4161195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3" name="Google Shape;753;p37"/>
          <p:cNvSpPr/>
          <p:nvPr/>
        </p:nvSpPr>
        <p:spPr>
          <a:xfrm>
            <a:off x="11454285" y="4161195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4" name="Google Shape;754;p37"/>
          <p:cNvSpPr/>
          <p:nvPr/>
        </p:nvSpPr>
        <p:spPr>
          <a:xfrm>
            <a:off x="11048365" y="3678958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5" name="Google Shape;755;p37"/>
          <p:cNvSpPr/>
          <p:nvPr/>
        </p:nvSpPr>
        <p:spPr>
          <a:xfrm>
            <a:off x="11350196" y="3678958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6" name="Google Shape;756;p37"/>
          <p:cNvSpPr/>
          <p:nvPr/>
        </p:nvSpPr>
        <p:spPr>
          <a:xfrm>
            <a:off x="11651549" y="3678958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7" name="Google Shape;757;p37"/>
          <p:cNvSpPr/>
          <p:nvPr/>
        </p:nvSpPr>
        <p:spPr>
          <a:xfrm>
            <a:off x="10953050" y="3779134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8" name="Google Shape;758;p37"/>
          <p:cNvSpPr/>
          <p:nvPr/>
        </p:nvSpPr>
        <p:spPr>
          <a:xfrm>
            <a:off x="11254880" y="3779134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9" name="Google Shape;759;p37"/>
          <p:cNvSpPr/>
          <p:nvPr/>
        </p:nvSpPr>
        <p:spPr>
          <a:xfrm>
            <a:off x="11556233" y="3779134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0" name="Google Shape;760;p37"/>
          <p:cNvSpPr/>
          <p:nvPr/>
        </p:nvSpPr>
        <p:spPr>
          <a:xfrm>
            <a:off x="10851101" y="3880707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1" name="Google Shape;761;p37"/>
          <p:cNvSpPr/>
          <p:nvPr/>
        </p:nvSpPr>
        <p:spPr>
          <a:xfrm>
            <a:off x="11152932" y="3880707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2" name="Google Shape;762;p37"/>
          <p:cNvSpPr/>
          <p:nvPr/>
        </p:nvSpPr>
        <p:spPr>
          <a:xfrm>
            <a:off x="11454285" y="3880707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3" name="Google Shape;763;p37"/>
          <p:cNvSpPr/>
          <p:nvPr/>
        </p:nvSpPr>
        <p:spPr>
          <a:xfrm>
            <a:off x="11048365" y="3386789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4" name="Google Shape;764;p37"/>
          <p:cNvSpPr/>
          <p:nvPr/>
        </p:nvSpPr>
        <p:spPr>
          <a:xfrm>
            <a:off x="11350196" y="3386789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5" name="Google Shape;765;p37"/>
          <p:cNvSpPr/>
          <p:nvPr/>
        </p:nvSpPr>
        <p:spPr>
          <a:xfrm>
            <a:off x="11651549" y="3386789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6" name="Google Shape;766;p37"/>
          <p:cNvSpPr/>
          <p:nvPr/>
        </p:nvSpPr>
        <p:spPr>
          <a:xfrm>
            <a:off x="10953050" y="3486965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7" name="Google Shape;767;p37"/>
          <p:cNvSpPr/>
          <p:nvPr/>
        </p:nvSpPr>
        <p:spPr>
          <a:xfrm>
            <a:off x="11254880" y="3486965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8" name="Google Shape;768;p37"/>
          <p:cNvSpPr/>
          <p:nvPr/>
        </p:nvSpPr>
        <p:spPr>
          <a:xfrm>
            <a:off x="11556233" y="3486965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9" name="Google Shape;769;p37"/>
          <p:cNvSpPr/>
          <p:nvPr/>
        </p:nvSpPr>
        <p:spPr>
          <a:xfrm>
            <a:off x="10851101" y="3588538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0" name="Google Shape;770;p37"/>
          <p:cNvSpPr/>
          <p:nvPr/>
        </p:nvSpPr>
        <p:spPr>
          <a:xfrm>
            <a:off x="11152932" y="3588538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1" name="Google Shape;771;p37"/>
          <p:cNvSpPr/>
          <p:nvPr/>
        </p:nvSpPr>
        <p:spPr>
          <a:xfrm>
            <a:off x="11454285" y="3588538"/>
            <a:ext cx="408000" cy="420000"/>
          </a:xfrm>
          <a:prstGeom prst="cube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2" name="Google Shape;772;p37"/>
          <p:cNvSpPr txBox="1"/>
          <p:nvPr/>
        </p:nvSpPr>
        <p:spPr>
          <a:xfrm>
            <a:off x="10935050" y="4733850"/>
            <a:ext cx="907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3" name="Google Shape;773;p37"/>
          <p:cNvSpPr txBox="1"/>
          <p:nvPr/>
        </p:nvSpPr>
        <p:spPr>
          <a:xfrm>
            <a:off x="7679025" y="1157025"/>
            <a:ext cx="2476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1 attention score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4" name="Google Shape;774;p37"/>
          <p:cNvSpPr txBox="1"/>
          <p:nvPr/>
        </p:nvSpPr>
        <p:spPr>
          <a:xfrm>
            <a:off x="7627650" y="3044788"/>
            <a:ext cx="2476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2 attention score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5" name="Google Shape;775;p37"/>
          <p:cNvSpPr txBox="1"/>
          <p:nvPr/>
        </p:nvSpPr>
        <p:spPr>
          <a:xfrm>
            <a:off x="7775500" y="6378625"/>
            <a:ext cx="2476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8 attention score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6" name="Google Shape;776;p37"/>
          <p:cNvSpPr txBox="1"/>
          <p:nvPr/>
        </p:nvSpPr>
        <p:spPr>
          <a:xfrm>
            <a:off x="111225" y="1863630"/>
            <a:ext cx="2027700" cy="1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Batch: 8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 : 27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(joint): 15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 : 512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7" name="Google Shape;777;p37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New Proposal</a:t>
            </a:r>
            <a:endParaRPr sz="4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8"/>
          <p:cNvSpPr/>
          <p:nvPr/>
        </p:nvSpPr>
        <p:spPr>
          <a:xfrm>
            <a:off x="4594735" y="2859031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Q</a:t>
            </a:r>
            <a:endParaRPr sz="1000"/>
          </a:p>
        </p:txBody>
      </p:sp>
      <p:sp>
        <p:nvSpPr>
          <p:cNvPr id="784" name="Google Shape;784;p38"/>
          <p:cNvSpPr/>
          <p:nvPr/>
        </p:nvSpPr>
        <p:spPr>
          <a:xfrm>
            <a:off x="4594735" y="2356740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K</a:t>
            </a:r>
            <a:endParaRPr sz="1000"/>
          </a:p>
        </p:txBody>
      </p:sp>
      <p:sp>
        <p:nvSpPr>
          <p:cNvPr id="785" name="Google Shape;785;p38"/>
          <p:cNvSpPr/>
          <p:nvPr/>
        </p:nvSpPr>
        <p:spPr>
          <a:xfrm>
            <a:off x="4594735" y="1854450"/>
            <a:ext cx="726600" cy="39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V</a:t>
            </a:r>
            <a:endParaRPr sz="1000"/>
          </a:p>
        </p:txBody>
      </p:sp>
      <p:sp>
        <p:nvSpPr>
          <p:cNvPr id="786" name="Google Shape;786;p38"/>
          <p:cNvSpPr/>
          <p:nvPr/>
        </p:nvSpPr>
        <p:spPr>
          <a:xfrm>
            <a:off x="2738605" y="2777158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7" name="Google Shape;787;p38"/>
          <p:cNvSpPr/>
          <p:nvPr/>
        </p:nvSpPr>
        <p:spPr>
          <a:xfrm>
            <a:off x="3040435" y="2777158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8" name="Google Shape;788;p38"/>
          <p:cNvSpPr/>
          <p:nvPr/>
        </p:nvSpPr>
        <p:spPr>
          <a:xfrm>
            <a:off x="3341788" y="2777158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9" name="Google Shape;789;p38"/>
          <p:cNvSpPr/>
          <p:nvPr/>
        </p:nvSpPr>
        <p:spPr>
          <a:xfrm>
            <a:off x="2738819" y="2456645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0" name="Google Shape;790;p38"/>
          <p:cNvSpPr/>
          <p:nvPr/>
        </p:nvSpPr>
        <p:spPr>
          <a:xfrm>
            <a:off x="3040650" y="2456645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1" name="Google Shape;791;p38"/>
          <p:cNvSpPr/>
          <p:nvPr/>
        </p:nvSpPr>
        <p:spPr>
          <a:xfrm>
            <a:off x="3342003" y="2456645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2" name="Google Shape;792;p38"/>
          <p:cNvSpPr/>
          <p:nvPr/>
        </p:nvSpPr>
        <p:spPr>
          <a:xfrm>
            <a:off x="2738489" y="214590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3" name="Google Shape;793;p38"/>
          <p:cNvSpPr/>
          <p:nvPr/>
        </p:nvSpPr>
        <p:spPr>
          <a:xfrm>
            <a:off x="3040320" y="214590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4" name="Google Shape;794;p38"/>
          <p:cNvSpPr/>
          <p:nvPr/>
        </p:nvSpPr>
        <p:spPr>
          <a:xfrm>
            <a:off x="3341673" y="2145900"/>
            <a:ext cx="408000" cy="4200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95" name="Google Shape;795;p38"/>
          <p:cNvCxnSpPr/>
          <p:nvPr/>
        </p:nvCxnSpPr>
        <p:spPr>
          <a:xfrm>
            <a:off x="3846808" y="2673308"/>
            <a:ext cx="5637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6" name="Google Shape;796;p38"/>
          <p:cNvCxnSpPr/>
          <p:nvPr/>
        </p:nvCxnSpPr>
        <p:spPr>
          <a:xfrm flipH="1" rot="10800000">
            <a:off x="4140353" y="2159623"/>
            <a:ext cx="5100" cy="101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7" name="Google Shape;797;p38"/>
          <p:cNvCxnSpPr/>
          <p:nvPr/>
        </p:nvCxnSpPr>
        <p:spPr>
          <a:xfrm>
            <a:off x="4145431" y="2162771"/>
            <a:ext cx="2697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8" name="Google Shape;798;p38"/>
          <p:cNvCxnSpPr/>
          <p:nvPr/>
        </p:nvCxnSpPr>
        <p:spPr>
          <a:xfrm>
            <a:off x="4145431" y="3164121"/>
            <a:ext cx="2697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9" name="Google Shape;799;p38"/>
          <p:cNvSpPr/>
          <p:nvPr/>
        </p:nvSpPr>
        <p:spPr>
          <a:xfrm rot="5400000">
            <a:off x="6143200" y="2262400"/>
            <a:ext cx="1584900" cy="67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attention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0" name="Google Shape;800;p38"/>
          <p:cNvSpPr/>
          <p:nvPr/>
        </p:nvSpPr>
        <p:spPr>
          <a:xfrm rot="-5400000">
            <a:off x="5486475" y="2549050"/>
            <a:ext cx="1034400" cy="649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Nonlinear Feature Augmentation</a:t>
            </a:r>
            <a:endParaRPr sz="1000"/>
          </a:p>
        </p:txBody>
      </p:sp>
      <p:cxnSp>
        <p:nvCxnSpPr>
          <p:cNvPr id="801" name="Google Shape;801;p38"/>
          <p:cNvCxnSpPr/>
          <p:nvPr/>
        </p:nvCxnSpPr>
        <p:spPr>
          <a:xfrm flipH="1" rot="10800000">
            <a:off x="5344875" y="2554125"/>
            <a:ext cx="3363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2" name="Google Shape;802;p38"/>
          <p:cNvCxnSpPr/>
          <p:nvPr/>
        </p:nvCxnSpPr>
        <p:spPr>
          <a:xfrm flipH="1" rot="10800000">
            <a:off x="5331900" y="3055975"/>
            <a:ext cx="3363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3" name="Google Shape;803;p38"/>
          <p:cNvCxnSpPr/>
          <p:nvPr/>
        </p:nvCxnSpPr>
        <p:spPr>
          <a:xfrm flipH="1" rot="10800000">
            <a:off x="6329550" y="2554225"/>
            <a:ext cx="2631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4" name="Google Shape;804;p38"/>
          <p:cNvCxnSpPr/>
          <p:nvPr/>
        </p:nvCxnSpPr>
        <p:spPr>
          <a:xfrm flipH="1" rot="10800000">
            <a:off x="6325200" y="3056100"/>
            <a:ext cx="2673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5" name="Google Shape;805;p38"/>
          <p:cNvCxnSpPr/>
          <p:nvPr/>
        </p:nvCxnSpPr>
        <p:spPr>
          <a:xfrm flipH="1" rot="10800000">
            <a:off x="5331900" y="2036675"/>
            <a:ext cx="12657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6" name="Google Shape;806;p38"/>
          <p:cNvSpPr/>
          <p:nvPr/>
        </p:nvSpPr>
        <p:spPr>
          <a:xfrm>
            <a:off x="8032005" y="2669433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7" name="Google Shape;807;p38"/>
          <p:cNvSpPr/>
          <p:nvPr/>
        </p:nvSpPr>
        <p:spPr>
          <a:xfrm>
            <a:off x="8333835" y="2669433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8" name="Google Shape;808;p38"/>
          <p:cNvSpPr/>
          <p:nvPr/>
        </p:nvSpPr>
        <p:spPr>
          <a:xfrm>
            <a:off x="8635188" y="2669433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9" name="Google Shape;809;p38"/>
          <p:cNvSpPr/>
          <p:nvPr/>
        </p:nvSpPr>
        <p:spPr>
          <a:xfrm>
            <a:off x="8032219" y="2348920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0" name="Google Shape;810;p38"/>
          <p:cNvSpPr/>
          <p:nvPr/>
        </p:nvSpPr>
        <p:spPr>
          <a:xfrm>
            <a:off x="8334050" y="2348920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1" name="Google Shape;811;p38"/>
          <p:cNvSpPr/>
          <p:nvPr/>
        </p:nvSpPr>
        <p:spPr>
          <a:xfrm>
            <a:off x="8635403" y="2348920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2" name="Google Shape;812;p38"/>
          <p:cNvSpPr/>
          <p:nvPr/>
        </p:nvSpPr>
        <p:spPr>
          <a:xfrm>
            <a:off x="8031889" y="2038175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3" name="Google Shape;813;p38"/>
          <p:cNvSpPr/>
          <p:nvPr/>
        </p:nvSpPr>
        <p:spPr>
          <a:xfrm>
            <a:off x="8333720" y="2038175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4" name="Google Shape;814;p38"/>
          <p:cNvSpPr/>
          <p:nvPr/>
        </p:nvSpPr>
        <p:spPr>
          <a:xfrm>
            <a:off x="8635073" y="2038175"/>
            <a:ext cx="408000" cy="420000"/>
          </a:xfrm>
          <a:prstGeom prst="cube">
            <a:avLst>
              <a:gd fmla="val 25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5" name="Google Shape;815;p38"/>
          <p:cNvSpPr txBox="1"/>
          <p:nvPr/>
        </p:nvSpPr>
        <p:spPr>
          <a:xfrm>
            <a:off x="2832050" y="1652900"/>
            <a:ext cx="949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1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16" name="Google Shape;816;p38"/>
          <p:cNvCxnSpPr>
            <a:stCxn id="799" idx="0"/>
          </p:cNvCxnSpPr>
          <p:nvPr/>
        </p:nvCxnSpPr>
        <p:spPr>
          <a:xfrm>
            <a:off x="7273300" y="2600050"/>
            <a:ext cx="5661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8"/>
          <p:cNvCxnSpPr/>
          <p:nvPr/>
        </p:nvCxnSpPr>
        <p:spPr>
          <a:xfrm>
            <a:off x="9043075" y="2480363"/>
            <a:ext cx="5661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8" name="Google Shape;818;p38"/>
          <p:cNvSpPr txBox="1"/>
          <p:nvPr/>
        </p:nvSpPr>
        <p:spPr>
          <a:xfrm>
            <a:off x="7651425" y="1531875"/>
            <a:ext cx="2476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1 attention score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9" name="Google Shape;819;p38"/>
          <p:cNvSpPr txBox="1"/>
          <p:nvPr/>
        </p:nvSpPr>
        <p:spPr>
          <a:xfrm>
            <a:off x="4294875" y="4260225"/>
            <a:ext cx="75495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아이디어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Query, Key의 축소된 차원에 특징을 효율적으로 재구성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ReLU를 통해 중요한 특징만 남기고 불필요한 정보는 억제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이후 다시 Linear + Norm 강조된 특징을 선형변환으로 재조정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⇨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강조된 특징 사이의 새로운 관계를 학습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0" name="Google Shape;820;p38"/>
          <p:cNvSpPr/>
          <p:nvPr/>
        </p:nvSpPr>
        <p:spPr>
          <a:xfrm rot="-5400000">
            <a:off x="1522700" y="4604125"/>
            <a:ext cx="1034400" cy="649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ReLU</a:t>
            </a:r>
            <a:endParaRPr sz="1000"/>
          </a:p>
        </p:txBody>
      </p:sp>
      <p:sp>
        <p:nvSpPr>
          <p:cNvPr id="821" name="Google Shape;821;p38"/>
          <p:cNvSpPr/>
          <p:nvPr/>
        </p:nvSpPr>
        <p:spPr>
          <a:xfrm rot="-5400000">
            <a:off x="2778100" y="4604125"/>
            <a:ext cx="1034400" cy="649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Linear(dim, dim) + Norm(dim)</a:t>
            </a:r>
            <a:endParaRPr sz="1000"/>
          </a:p>
        </p:txBody>
      </p:sp>
      <p:cxnSp>
        <p:nvCxnSpPr>
          <p:cNvPr id="822" name="Google Shape;822;p38"/>
          <p:cNvCxnSpPr/>
          <p:nvPr/>
        </p:nvCxnSpPr>
        <p:spPr>
          <a:xfrm>
            <a:off x="2406708" y="4926633"/>
            <a:ext cx="5637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3" name="Google Shape;823;p38"/>
          <p:cNvCxnSpPr/>
          <p:nvPr/>
        </p:nvCxnSpPr>
        <p:spPr>
          <a:xfrm>
            <a:off x="2633500" y="3757150"/>
            <a:ext cx="300" cy="3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4" name="Google Shape;824;p38"/>
          <p:cNvCxnSpPr/>
          <p:nvPr/>
        </p:nvCxnSpPr>
        <p:spPr>
          <a:xfrm flipH="1">
            <a:off x="6014925" y="3394875"/>
            <a:ext cx="4500" cy="36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8"/>
          <p:cNvCxnSpPr/>
          <p:nvPr/>
        </p:nvCxnSpPr>
        <p:spPr>
          <a:xfrm flipH="1">
            <a:off x="2633875" y="3757025"/>
            <a:ext cx="33837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8"/>
          <p:cNvSpPr/>
          <p:nvPr/>
        </p:nvSpPr>
        <p:spPr>
          <a:xfrm>
            <a:off x="1372450" y="4254325"/>
            <a:ext cx="2522400" cy="134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7" name="Google Shape;827;p38"/>
          <p:cNvSpPr txBox="1"/>
          <p:nvPr/>
        </p:nvSpPr>
        <p:spPr>
          <a:xfrm>
            <a:off x="1046425" y="5653275"/>
            <a:ext cx="3368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Nonlinear Feature Augmentation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8" name="Google Shape;828;p38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New Proposal</a:t>
            </a:r>
            <a:endParaRPr sz="4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00" y="4172550"/>
            <a:ext cx="2639225" cy="20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39"/>
          <p:cNvSpPr txBox="1"/>
          <p:nvPr/>
        </p:nvSpPr>
        <p:spPr>
          <a:xfrm>
            <a:off x="5890300" y="3973300"/>
            <a:ext cx="5795400" cy="25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의도 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불필요한 정보는 억제하며 중요한 특성을 재구성하려고 함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문제 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ReLU의 input 값에서 음수는 0으로 죽어버림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문제 파악 예상 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기여도가 약한 특성이 아예 죽여버림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6" name="Google Shape;836;p39"/>
          <p:cNvSpPr/>
          <p:nvPr/>
        </p:nvSpPr>
        <p:spPr>
          <a:xfrm>
            <a:off x="3756350" y="4255150"/>
            <a:ext cx="274200" cy="27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7" name="Google Shape;837;p39"/>
          <p:cNvSpPr/>
          <p:nvPr/>
        </p:nvSpPr>
        <p:spPr>
          <a:xfrm>
            <a:off x="3756350" y="4672125"/>
            <a:ext cx="274200" cy="27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8" name="Google Shape;838;p39"/>
          <p:cNvSpPr/>
          <p:nvPr/>
        </p:nvSpPr>
        <p:spPr>
          <a:xfrm>
            <a:off x="3756350" y="5133213"/>
            <a:ext cx="274200" cy="27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9" name="Google Shape;839;p39"/>
          <p:cNvSpPr/>
          <p:nvPr/>
        </p:nvSpPr>
        <p:spPr>
          <a:xfrm>
            <a:off x="3756350" y="6011300"/>
            <a:ext cx="274200" cy="27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0" name="Google Shape;840;p39"/>
          <p:cNvSpPr/>
          <p:nvPr/>
        </p:nvSpPr>
        <p:spPr>
          <a:xfrm>
            <a:off x="4577350" y="4255150"/>
            <a:ext cx="274200" cy="27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1" name="Google Shape;841;p39"/>
          <p:cNvSpPr/>
          <p:nvPr/>
        </p:nvSpPr>
        <p:spPr>
          <a:xfrm>
            <a:off x="4577350" y="4672125"/>
            <a:ext cx="274200" cy="27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2" name="Google Shape;842;p39"/>
          <p:cNvSpPr/>
          <p:nvPr/>
        </p:nvSpPr>
        <p:spPr>
          <a:xfrm>
            <a:off x="4577350" y="5133213"/>
            <a:ext cx="274200" cy="27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3" name="Google Shape;843;p39"/>
          <p:cNvSpPr/>
          <p:nvPr/>
        </p:nvSpPr>
        <p:spPr>
          <a:xfrm>
            <a:off x="4577350" y="6011300"/>
            <a:ext cx="274200" cy="27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44" name="Google Shape;844;p39"/>
          <p:cNvCxnSpPr>
            <a:endCxn id="840" idx="2"/>
          </p:cNvCxnSpPr>
          <p:nvPr/>
        </p:nvCxnSpPr>
        <p:spPr>
          <a:xfrm>
            <a:off x="4035850" y="4389550"/>
            <a:ext cx="5415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5" name="Google Shape;845;p39"/>
          <p:cNvCxnSpPr>
            <a:stCxn id="836" idx="6"/>
            <a:endCxn id="841" idx="2"/>
          </p:cNvCxnSpPr>
          <p:nvPr/>
        </p:nvCxnSpPr>
        <p:spPr>
          <a:xfrm>
            <a:off x="4030550" y="4392250"/>
            <a:ext cx="546900" cy="41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6" name="Google Shape;846;p39"/>
          <p:cNvCxnSpPr>
            <a:stCxn id="836" idx="6"/>
            <a:endCxn id="842" idx="2"/>
          </p:cNvCxnSpPr>
          <p:nvPr/>
        </p:nvCxnSpPr>
        <p:spPr>
          <a:xfrm>
            <a:off x="4030550" y="4392250"/>
            <a:ext cx="546900" cy="87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7" name="Google Shape;847;p39"/>
          <p:cNvCxnSpPr>
            <a:endCxn id="840" idx="2"/>
          </p:cNvCxnSpPr>
          <p:nvPr/>
        </p:nvCxnSpPr>
        <p:spPr>
          <a:xfrm flipH="1" rot="10800000">
            <a:off x="4033150" y="4392250"/>
            <a:ext cx="54420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8" name="Google Shape;848;p39"/>
          <p:cNvCxnSpPr/>
          <p:nvPr/>
        </p:nvCxnSpPr>
        <p:spPr>
          <a:xfrm>
            <a:off x="4035850" y="4800850"/>
            <a:ext cx="5415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9" name="Google Shape;849;p39"/>
          <p:cNvCxnSpPr>
            <a:stCxn id="837" idx="6"/>
            <a:endCxn id="842" idx="2"/>
          </p:cNvCxnSpPr>
          <p:nvPr/>
        </p:nvCxnSpPr>
        <p:spPr>
          <a:xfrm>
            <a:off x="4030550" y="4809225"/>
            <a:ext cx="546900" cy="46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0" name="Google Shape;850;p39"/>
          <p:cNvCxnSpPr/>
          <p:nvPr/>
        </p:nvCxnSpPr>
        <p:spPr>
          <a:xfrm>
            <a:off x="4033200" y="5278700"/>
            <a:ext cx="5415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1" name="Google Shape;851;p39"/>
          <p:cNvCxnSpPr>
            <a:stCxn id="838" idx="6"/>
          </p:cNvCxnSpPr>
          <p:nvPr/>
        </p:nvCxnSpPr>
        <p:spPr>
          <a:xfrm flipH="1" rot="10800000">
            <a:off x="4030550" y="4771713"/>
            <a:ext cx="548100" cy="49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2" name="Google Shape;852;p39"/>
          <p:cNvCxnSpPr>
            <a:stCxn id="838" idx="6"/>
            <a:endCxn id="840" idx="2"/>
          </p:cNvCxnSpPr>
          <p:nvPr/>
        </p:nvCxnSpPr>
        <p:spPr>
          <a:xfrm flipH="1" rot="10800000">
            <a:off x="4030550" y="4392213"/>
            <a:ext cx="546900" cy="87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3" name="Google Shape;853;p39"/>
          <p:cNvCxnSpPr>
            <a:stCxn id="836" idx="6"/>
            <a:endCxn id="843" idx="2"/>
          </p:cNvCxnSpPr>
          <p:nvPr/>
        </p:nvCxnSpPr>
        <p:spPr>
          <a:xfrm>
            <a:off x="4030550" y="4392250"/>
            <a:ext cx="546900" cy="175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4" name="Google Shape;854;p39"/>
          <p:cNvCxnSpPr>
            <a:stCxn id="837" idx="6"/>
            <a:endCxn id="843" idx="2"/>
          </p:cNvCxnSpPr>
          <p:nvPr/>
        </p:nvCxnSpPr>
        <p:spPr>
          <a:xfrm>
            <a:off x="4030550" y="4809225"/>
            <a:ext cx="546900" cy="133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5" name="Google Shape;855;p39"/>
          <p:cNvCxnSpPr>
            <a:stCxn id="838" idx="6"/>
            <a:endCxn id="843" idx="2"/>
          </p:cNvCxnSpPr>
          <p:nvPr/>
        </p:nvCxnSpPr>
        <p:spPr>
          <a:xfrm>
            <a:off x="4030550" y="5270313"/>
            <a:ext cx="546900" cy="87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6" name="Google Shape;856;p39"/>
          <p:cNvCxnSpPr/>
          <p:nvPr/>
        </p:nvCxnSpPr>
        <p:spPr>
          <a:xfrm>
            <a:off x="4035850" y="6154100"/>
            <a:ext cx="5415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57" name="Google Shape;85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3731524" y="5590288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577349" y="5590288"/>
            <a:ext cx="3238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39"/>
          <p:cNvSpPr/>
          <p:nvPr/>
        </p:nvSpPr>
        <p:spPr>
          <a:xfrm>
            <a:off x="2976083" y="5005195"/>
            <a:ext cx="457200" cy="457200"/>
          </a:xfrm>
          <a:prstGeom prst="mathPlus">
            <a:avLst>
              <a:gd fmla="val 235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0" name="Google Shape;860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6338" y="3829000"/>
            <a:ext cx="1171625" cy="29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37675" y="1451742"/>
            <a:ext cx="9116655" cy="2297008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39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New Proposal</a:t>
            </a:r>
            <a:endParaRPr sz="4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" name="Google Shape;86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750" y="4158550"/>
            <a:ext cx="3287105" cy="2182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40"/>
          <p:cNvSpPr/>
          <p:nvPr/>
        </p:nvSpPr>
        <p:spPr>
          <a:xfrm>
            <a:off x="4603025" y="4255150"/>
            <a:ext cx="274200" cy="27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0" name="Google Shape;870;p40"/>
          <p:cNvSpPr/>
          <p:nvPr/>
        </p:nvSpPr>
        <p:spPr>
          <a:xfrm>
            <a:off x="4603025" y="4672125"/>
            <a:ext cx="274200" cy="27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1" name="Google Shape;871;p40"/>
          <p:cNvSpPr/>
          <p:nvPr/>
        </p:nvSpPr>
        <p:spPr>
          <a:xfrm>
            <a:off x="4603025" y="5133213"/>
            <a:ext cx="274200" cy="27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2" name="Google Shape;872;p40"/>
          <p:cNvSpPr/>
          <p:nvPr/>
        </p:nvSpPr>
        <p:spPr>
          <a:xfrm>
            <a:off x="4603025" y="6011300"/>
            <a:ext cx="274200" cy="27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3" name="Google Shape;873;p40"/>
          <p:cNvSpPr/>
          <p:nvPr/>
        </p:nvSpPr>
        <p:spPr>
          <a:xfrm>
            <a:off x="5424025" y="4255150"/>
            <a:ext cx="274200" cy="27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4" name="Google Shape;874;p40"/>
          <p:cNvSpPr/>
          <p:nvPr/>
        </p:nvSpPr>
        <p:spPr>
          <a:xfrm>
            <a:off x="5424025" y="4672125"/>
            <a:ext cx="274200" cy="27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5" name="Google Shape;875;p40"/>
          <p:cNvSpPr/>
          <p:nvPr/>
        </p:nvSpPr>
        <p:spPr>
          <a:xfrm>
            <a:off x="5424025" y="5133213"/>
            <a:ext cx="274200" cy="27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6" name="Google Shape;876;p40"/>
          <p:cNvSpPr/>
          <p:nvPr/>
        </p:nvSpPr>
        <p:spPr>
          <a:xfrm>
            <a:off x="5424025" y="6011300"/>
            <a:ext cx="274200" cy="27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77" name="Google Shape;877;p40"/>
          <p:cNvCxnSpPr>
            <a:endCxn id="873" idx="2"/>
          </p:cNvCxnSpPr>
          <p:nvPr/>
        </p:nvCxnSpPr>
        <p:spPr>
          <a:xfrm>
            <a:off x="4882525" y="4389550"/>
            <a:ext cx="5415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8" name="Google Shape;878;p40"/>
          <p:cNvCxnSpPr>
            <a:stCxn id="869" idx="6"/>
            <a:endCxn id="874" idx="2"/>
          </p:cNvCxnSpPr>
          <p:nvPr/>
        </p:nvCxnSpPr>
        <p:spPr>
          <a:xfrm>
            <a:off x="4877225" y="4392250"/>
            <a:ext cx="546900" cy="41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9" name="Google Shape;879;p40"/>
          <p:cNvCxnSpPr>
            <a:stCxn id="869" idx="6"/>
            <a:endCxn id="875" idx="2"/>
          </p:cNvCxnSpPr>
          <p:nvPr/>
        </p:nvCxnSpPr>
        <p:spPr>
          <a:xfrm>
            <a:off x="4877225" y="4392250"/>
            <a:ext cx="546900" cy="87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0" name="Google Shape;880;p40"/>
          <p:cNvCxnSpPr>
            <a:endCxn id="873" idx="2"/>
          </p:cNvCxnSpPr>
          <p:nvPr/>
        </p:nvCxnSpPr>
        <p:spPr>
          <a:xfrm flipH="1" rot="10800000">
            <a:off x="4879825" y="4392250"/>
            <a:ext cx="54420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1" name="Google Shape;881;p40"/>
          <p:cNvCxnSpPr/>
          <p:nvPr/>
        </p:nvCxnSpPr>
        <p:spPr>
          <a:xfrm>
            <a:off x="4882525" y="4800850"/>
            <a:ext cx="5415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2" name="Google Shape;882;p40"/>
          <p:cNvCxnSpPr>
            <a:stCxn id="870" idx="6"/>
            <a:endCxn id="875" idx="2"/>
          </p:cNvCxnSpPr>
          <p:nvPr/>
        </p:nvCxnSpPr>
        <p:spPr>
          <a:xfrm>
            <a:off x="4877225" y="4809225"/>
            <a:ext cx="546900" cy="46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3" name="Google Shape;883;p40"/>
          <p:cNvCxnSpPr/>
          <p:nvPr/>
        </p:nvCxnSpPr>
        <p:spPr>
          <a:xfrm>
            <a:off x="4879875" y="5278700"/>
            <a:ext cx="5415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4" name="Google Shape;884;p40"/>
          <p:cNvCxnSpPr>
            <a:stCxn id="871" idx="6"/>
          </p:cNvCxnSpPr>
          <p:nvPr/>
        </p:nvCxnSpPr>
        <p:spPr>
          <a:xfrm flipH="1" rot="10800000">
            <a:off x="4877225" y="4771713"/>
            <a:ext cx="548100" cy="49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5" name="Google Shape;885;p40"/>
          <p:cNvCxnSpPr>
            <a:stCxn id="871" idx="6"/>
            <a:endCxn id="873" idx="2"/>
          </p:cNvCxnSpPr>
          <p:nvPr/>
        </p:nvCxnSpPr>
        <p:spPr>
          <a:xfrm flipH="1" rot="10800000">
            <a:off x="4877225" y="4392213"/>
            <a:ext cx="546900" cy="87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6" name="Google Shape;886;p40"/>
          <p:cNvCxnSpPr>
            <a:stCxn id="869" idx="6"/>
            <a:endCxn id="876" idx="2"/>
          </p:cNvCxnSpPr>
          <p:nvPr/>
        </p:nvCxnSpPr>
        <p:spPr>
          <a:xfrm>
            <a:off x="4877225" y="4392250"/>
            <a:ext cx="546900" cy="175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7" name="Google Shape;887;p40"/>
          <p:cNvCxnSpPr>
            <a:stCxn id="870" idx="6"/>
            <a:endCxn id="876" idx="2"/>
          </p:cNvCxnSpPr>
          <p:nvPr/>
        </p:nvCxnSpPr>
        <p:spPr>
          <a:xfrm>
            <a:off x="4877225" y="4809225"/>
            <a:ext cx="546900" cy="133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8" name="Google Shape;888;p40"/>
          <p:cNvCxnSpPr>
            <a:stCxn id="871" idx="6"/>
            <a:endCxn id="876" idx="2"/>
          </p:cNvCxnSpPr>
          <p:nvPr/>
        </p:nvCxnSpPr>
        <p:spPr>
          <a:xfrm>
            <a:off x="4877225" y="5270313"/>
            <a:ext cx="546900" cy="87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9" name="Google Shape;889;p40"/>
          <p:cNvCxnSpPr/>
          <p:nvPr/>
        </p:nvCxnSpPr>
        <p:spPr>
          <a:xfrm>
            <a:off x="4882525" y="6154100"/>
            <a:ext cx="5415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90" name="Google Shape;89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578199" y="5590288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424024" y="5590288"/>
            <a:ext cx="3238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40"/>
          <p:cNvSpPr/>
          <p:nvPr/>
        </p:nvSpPr>
        <p:spPr>
          <a:xfrm>
            <a:off x="3822758" y="5005195"/>
            <a:ext cx="457200" cy="457200"/>
          </a:xfrm>
          <a:prstGeom prst="mathPlus">
            <a:avLst>
              <a:gd fmla="val 235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3" name="Google Shape;893;p40"/>
          <p:cNvSpPr txBox="1"/>
          <p:nvPr/>
        </p:nvSpPr>
        <p:spPr>
          <a:xfrm>
            <a:off x="5963700" y="3682300"/>
            <a:ext cx="5916000" cy="29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해결 아이디어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Softmax 를 통해 각 채널의 상대적인 중요도를 % 로 변환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각 채널의 값을 재조합 하여 새로운 정보 생성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전체 채널에서 선형 변환을 통해 입력간의 연관성을 반영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⇨ 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중요도를 기반으로 재구성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4" name="Google Shape;894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7463" y="3816250"/>
            <a:ext cx="1171625" cy="29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02950" y="1379592"/>
            <a:ext cx="8303056" cy="2150308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40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New Proposal</a:t>
            </a:r>
            <a:endParaRPr sz="4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41"/>
          <p:cNvSpPr txBox="1"/>
          <p:nvPr/>
        </p:nvSpPr>
        <p:spPr>
          <a:xfrm>
            <a:off x="583325" y="1344500"/>
            <a:ext cx="75747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모델 성능 지표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3" name="Google Shape;903;p41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Result</a:t>
            </a:r>
            <a:endParaRPr sz="4000"/>
          </a:p>
        </p:txBody>
      </p:sp>
      <p:pic>
        <p:nvPicPr>
          <p:cNvPr id="904" name="Google Shape;90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250" y="2041025"/>
            <a:ext cx="9884850" cy="43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41"/>
          <p:cNvSpPr/>
          <p:nvPr/>
        </p:nvSpPr>
        <p:spPr>
          <a:xfrm>
            <a:off x="7191250" y="2567050"/>
            <a:ext cx="1570500" cy="3111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42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 work</a:t>
            </a:r>
            <a:endParaRPr/>
          </a:p>
        </p:txBody>
      </p:sp>
      <p:pic>
        <p:nvPicPr>
          <p:cNvPr id="912" name="Google Shape;91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9350" y="2054526"/>
            <a:ext cx="3963225" cy="230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1939449"/>
            <a:ext cx="4189400" cy="2692575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42"/>
          <p:cNvSpPr txBox="1"/>
          <p:nvPr/>
        </p:nvSpPr>
        <p:spPr>
          <a:xfrm>
            <a:off x="501875" y="4930300"/>
            <a:ext cx="11044800" cy="17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[1] Alignment Attention by Matching Key and Query Distributions</a:t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[2] NEURAL ATTENTION: ENHANCING QKV CALCULATION IN SELF-ATTENTION MECHANISM WITH NEURAL NETWORKS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43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43"/>
          <p:cNvSpPr txBox="1"/>
          <p:nvPr>
            <p:ph idx="1" type="body"/>
          </p:nvPr>
        </p:nvSpPr>
        <p:spPr>
          <a:xfrm>
            <a:off x="838200" y="1429789"/>
            <a:ext cx="10515600" cy="474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44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Positional Encoding</a:t>
            </a:r>
            <a:endParaRPr sz="4000"/>
          </a:p>
        </p:txBody>
      </p:sp>
      <p:sp>
        <p:nvSpPr>
          <p:cNvPr id="928" name="Google Shape;928;p44"/>
          <p:cNvSpPr txBox="1"/>
          <p:nvPr/>
        </p:nvSpPr>
        <p:spPr>
          <a:xfrm>
            <a:off x="7559400" y="2319750"/>
            <a:ext cx="4173000" cy="17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4424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pen Sans"/>
              <a:buChar char="●"/>
            </a:pPr>
            <a:r>
              <a:rPr lang="en-US" sz="235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입력 시퀀스를 순차적으로 넣는 RNN을 사용하지 않음</a:t>
            </a:r>
            <a:endParaRPr sz="23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424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pen Sans"/>
              <a:buChar char="●"/>
            </a:pPr>
            <a:r>
              <a:rPr lang="en-US" sz="235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주기 함수를 통해 상대적인 위치 정보를 네트워크에 입력</a:t>
            </a:r>
            <a:endParaRPr sz="23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29" name="Google Shape;92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83" y="1331463"/>
            <a:ext cx="7143718" cy="3106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44"/>
          <p:cNvPicPr preferRelativeResize="0"/>
          <p:nvPr/>
        </p:nvPicPr>
        <p:blipFill rotWithShape="1">
          <a:blip r:embed="rId4">
            <a:alphaModFix/>
          </a:blip>
          <a:srcRect b="0" l="11730" r="0" t="0"/>
          <a:stretch/>
        </p:blipFill>
        <p:spPr>
          <a:xfrm>
            <a:off x="830225" y="4542550"/>
            <a:ext cx="3467800" cy="21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44"/>
          <p:cNvSpPr txBox="1"/>
          <p:nvPr/>
        </p:nvSpPr>
        <p:spPr>
          <a:xfrm>
            <a:off x="518850" y="4979075"/>
            <a:ext cx="5610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&lt;sos&gt;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2" name="Google Shape;932;p44"/>
          <p:cNvSpPr txBox="1"/>
          <p:nvPr/>
        </p:nvSpPr>
        <p:spPr>
          <a:xfrm>
            <a:off x="518850" y="5324250"/>
            <a:ext cx="5610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guten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3" name="Google Shape;933;p44"/>
          <p:cNvSpPr txBox="1"/>
          <p:nvPr/>
        </p:nvSpPr>
        <p:spPr>
          <a:xfrm>
            <a:off x="518850" y="6040300"/>
            <a:ext cx="5610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&lt;eos&gt;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4" name="Google Shape;934;p44"/>
          <p:cNvSpPr txBox="1"/>
          <p:nvPr/>
        </p:nvSpPr>
        <p:spPr>
          <a:xfrm>
            <a:off x="518850" y="5669425"/>
            <a:ext cx="5610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abend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5" name="Google Shape;93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5700" y="4851050"/>
            <a:ext cx="2540600" cy="1703025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44"/>
          <p:cNvSpPr/>
          <p:nvPr/>
        </p:nvSpPr>
        <p:spPr>
          <a:xfrm>
            <a:off x="4356375" y="5551725"/>
            <a:ext cx="210300" cy="2130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7" name="Google Shape;937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43200" y="5115399"/>
            <a:ext cx="4158465" cy="91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45"/>
          <p:cNvSpPr txBox="1"/>
          <p:nvPr>
            <p:ph type="title"/>
          </p:nvPr>
        </p:nvSpPr>
        <p:spPr>
          <a:xfrm>
            <a:off x="415681" y="-9850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Transformer</a:t>
            </a:r>
            <a:endParaRPr sz="4000"/>
          </a:p>
        </p:txBody>
      </p:sp>
      <p:pic>
        <p:nvPicPr>
          <p:cNvPr id="944" name="Google Shape;94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00" y="1227192"/>
            <a:ext cx="4114233" cy="5326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9602" y="1684477"/>
            <a:ext cx="5276250" cy="296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45"/>
          <p:cNvSpPr txBox="1"/>
          <p:nvPr/>
        </p:nvSpPr>
        <p:spPr>
          <a:xfrm>
            <a:off x="4499175" y="2190750"/>
            <a:ext cx="17229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 attention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7" name="Google Shape;947;p45"/>
          <p:cNvSpPr txBox="1"/>
          <p:nvPr/>
        </p:nvSpPr>
        <p:spPr>
          <a:xfrm>
            <a:off x="3996300" y="3088425"/>
            <a:ext cx="29055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Masked decoder attention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8" name="Google Shape;948;p45"/>
          <p:cNvSpPr txBox="1"/>
          <p:nvPr/>
        </p:nvSpPr>
        <p:spPr>
          <a:xfrm>
            <a:off x="3996300" y="3938600"/>
            <a:ext cx="29055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encoder decoder attention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9" name="Google Shape;949;p45"/>
          <p:cNvSpPr txBox="1"/>
          <p:nvPr/>
        </p:nvSpPr>
        <p:spPr>
          <a:xfrm>
            <a:off x="6858000" y="2238150"/>
            <a:ext cx="7515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0" name="Google Shape;950;p45"/>
          <p:cNvSpPr txBox="1"/>
          <p:nvPr/>
        </p:nvSpPr>
        <p:spPr>
          <a:xfrm>
            <a:off x="8200975" y="2238150"/>
            <a:ext cx="7515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Love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1" name="Google Shape;951;p45"/>
          <p:cNvSpPr txBox="1"/>
          <p:nvPr/>
        </p:nvSpPr>
        <p:spPr>
          <a:xfrm>
            <a:off x="9567600" y="2238300"/>
            <a:ext cx="7515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2" name="Google Shape;952;p45"/>
          <p:cNvSpPr txBox="1"/>
          <p:nvPr/>
        </p:nvSpPr>
        <p:spPr>
          <a:xfrm>
            <a:off x="6858000" y="3112375"/>
            <a:ext cx="795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나는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3" name="Google Shape;953;p45"/>
          <p:cNvSpPr txBox="1"/>
          <p:nvPr/>
        </p:nvSpPr>
        <p:spPr>
          <a:xfrm>
            <a:off x="8334275" y="3130725"/>
            <a:ext cx="751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널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4" name="Google Shape;954;p45"/>
          <p:cNvSpPr txBox="1"/>
          <p:nvPr/>
        </p:nvSpPr>
        <p:spPr>
          <a:xfrm>
            <a:off x="9469025" y="3136300"/>
            <a:ext cx="10368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사랑해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5" name="Google Shape;955;p45"/>
          <p:cNvSpPr txBox="1"/>
          <p:nvPr/>
        </p:nvSpPr>
        <p:spPr>
          <a:xfrm>
            <a:off x="10931275" y="4009425"/>
            <a:ext cx="795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나는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6" name="Google Shape;956;p45"/>
          <p:cNvSpPr txBox="1"/>
          <p:nvPr/>
        </p:nvSpPr>
        <p:spPr>
          <a:xfrm>
            <a:off x="6846175" y="3962550"/>
            <a:ext cx="7515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7" name="Google Shape;957;p45"/>
          <p:cNvSpPr txBox="1"/>
          <p:nvPr/>
        </p:nvSpPr>
        <p:spPr>
          <a:xfrm>
            <a:off x="8189150" y="3962550"/>
            <a:ext cx="7515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Love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8" name="Google Shape;958;p45"/>
          <p:cNvSpPr txBox="1"/>
          <p:nvPr/>
        </p:nvSpPr>
        <p:spPr>
          <a:xfrm>
            <a:off x="9555775" y="3962700"/>
            <a:ext cx="7515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9" name="Google Shape;959;p45"/>
          <p:cNvSpPr txBox="1"/>
          <p:nvPr/>
        </p:nvSpPr>
        <p:spPr>
          <a:xfrm>
            <a:off x="4148275" y="4924575"/>
            <a:ext cx="7942800" cy="17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병렬 처리</a:t>
            </a:r>
            <a:r>
              <a:rPr lang="en-US" sz="1800">
                <a:solidFill>
                  <a:schemeClr val="dk1"/>
                </a:solidFill>
              </a:rPr>
              <a:t>: 순환 구조가 없어 계산을 병렬화할 수 있어 훈련 속도가 빠름.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장기 의존성 해결</a:t>
            </a:r>
            <a:r>
              <a:rPr lang="en-US" sz="1800">
                <a:solidFill>
                  <a:schemeClr val="dk1"/>
                </a:solidFill>
              </a:rPr>
              <a:t>: Self-Attention으로 시퀀스 전체의 정보를 쉽게 참조해 긴 문맥 이해에 강함.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효율적인 어텐션</a:t>
            </a:r>
            <a:r>
              <a:rPr lang="en-US" sz="1800">
                <a:solidFill>
                  <a:schemeClr val="dk1"/>
                </a:solidFill>
              </a:rPr>
              <a:t>: 멀티 헤드 어텐션으로 다양한 패턴을 학습하여 표현력이 높음.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